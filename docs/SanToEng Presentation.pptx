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69" r:id="rId16"/>
  </p:sldIdLst>
  <p:sldSz cx="18288000" cy="10287000"/>
  <p:notesSz cx="6858000" cy="9144000"/>
  <p:embeddedFontLst>
    <p:embeddedFont>
      <p:font typeface="Alatsi" pitchFamily="2" charset="77"/>
      <p:regular r:id="rId17"/>
    </p:embeddedFont>
    <p:embeddedFont>
      <p:font typeface="Calibri" panose="020F0502020204030204" pitchFamily="34" charset="0"/>
      <p:regular r:id="rId18"/>
      <p:bold r:id="rId19"/>
      <p:italic r:id="rId20"/>
      <p:boldItalic r:id="rId21"/>
    </p:embeddedFont>
    <p:embeddedFont>
      <p:font typeface="Open Sans Bold" panose="020B0806030504020204" pitchFamily="3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28" autoAdjust="0"/>
  </p:normalViewPr>
  <p:slideViewPr>
    <p:cSldViewPr>
      <p:cViewPr varScale="1">
        <p:scale>
          <a:sx n="79" d="100"/>
          <a:sy n="79" d="100"/>
        </p:scale>
        <p:origin x="360"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5437822" y="2311565"/>
            <a:ext cx="11017607" cy="5836163"/>
          </a:xfrm>
          <a:prstGeom prst="rect">
            <a:avLst/>
          </a:prstGeom>
        </p:spPr>
        <p:txBody>
          <a:bodyPr lIns="0" tIns="0" rIns="0" bIns="0" rtlCol="0" anchor="t">
            <a:spAutoFit/>
          </a:bodyPr>
          <a:lstStyle/>
          <a:p>
            <a:pPr algn="ctr">
              <a:lnSpc>
                <a:spcPts val="10670"/>
              </a:lnSpc>
            </a:pPr>
            <a:r>
              <a:rPr lang="en-US" sz="11000" spc="121" dirty="0">
                <a:solidFill>
                  <a:srgbClr val="000000"/>
                </a:solidFill>
                <a:latin typeface="Alatsi"/>
                <a:ea typeface="Alatsi"/>
                <a:cs typeface="Alatsi"/>
                <a:sym typeface="Alatsi"/>
              </a:rPr>
              <a:t>SANSKRIT to ENGLISH </a:t>
            </a:r>
          </a:p>
          <a:p>
            <a:pPr algn="ctr">
              <a:lnSpc>
                <a:spcPts val="10670"/>
              </a:lnSpc>
            </a:pPr>
            <a:r>
              <a:rPr lang="en-US" sz="11000" spc="121" dirty="0">
                <a:solidFill>
                  <a:srgbClr val="000000"/>
                </a:solidFill>
                <a:latin typeface="Alatsi"/>
                <a:ea typeface="Alatsi"/>
                <a:cs typeface="Alatsi"/>
                <a:sym typeface="Alatsi"/>
              </a:rPr>
              <a:t>Translation</a:t>
            </a:r>
          </a:p>
          <a:p>
            <a:pPr algn="ctr">
              <a:lnSpc>
                <a:spcPts val="13192"/>
              </a:lnSpc>
            </a:pPr>
            <a:endParaRPr lang="en-US" sz="11000" spc="121" dirty="0">
              <a:solidFill>
                <a:srgbClr val="000000"/>
              </a:solidFill>
              <a:latin typeface="Alatsi"/>
              <a:ea typeface="Alatsi"/>
              <a:cs typeface="Alatsi"/>
              <a:sym typeface="Alatsi"/>
            </a:endParaRPr>
          </a:p>
        </p:txBody>
      </p:sp>
      <p:sp>
        <p:nvSpPr>
          <p:cNvPr id="13" name="Freeform 13"/>
          <p:cNvSpPr/>
          <p:nvPr/>
        </p:nvSpPr>
        <p:spPr>
          <a:xfrm>
            <a:off x="12646898"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4633952" y="6630584"/>
            <a:ext cx="12625348" cy="937757"/>
          </a:xfrm>
          <a:prstGeom prst="rect">
            <a:avLst/>
          </a:prstGeom>
        </p:spPr>
        <p:txBody>
          <a:bodyPr lIns="0" tIns="0" rIns="0" bIns="0" rtlCol="0" anchor="t">
            <a:spAutoFit/>
          </a:bodyPr>
          <a:lstStyle/>
          <a:p>
            <a:pPr algn="ctr">
              <a:lnSpc>
                <a:spcPts val="8029"/>
              </a:lnSpc>
            </a:pPr>
            <a:r>
              <a:rPr lang="en-US" sz="4000" dirty="0">
                <a:solidFill>
                  <a:srgbClr val="000000"/>
                </a:solidFill>
                <a:latin typeface="Alatsi"/>
                <a:ea typeface="Alatsi"/>
                <a:cs typeface="Alatsi"/>
                <a:sym typeface="Alatsi"/>
              </a:rPr>
              <a:t>Presented By : </a:t>
            </a:r>
            <a:r>
              <a:rPr lang="en-US" sz="4000" dirty="0" err="1">
                <a:solidFill>
                  <a:srgbClr val="000000"/>
                </a:solidFill>
                <a:latin typeface="Alatsi"/>
                <a:ea typeface="Alatsi"/>
                <a:cs typeface="Alatsi"/>
                <a:sym typeface="Alatsi"/>
              </a:rPr>
              <a:t>Sahasra</a:t>
            </a:r>
            <a:r>
              <a:rPr lang="en-US" sz="4000" dirty="0">
                <a:solidFill>
                  <a:srgbClr val="000000"/>
                </a:solidFill>
                <a:latin typeface="Alatsi"/>
                <a:ea typeface="Alatsi"/>
                <a:cs typeface="Alatsi"/>
                <a:sym typeface="Alatsi"/>
              </a:rPr>
              <a:t> </a:t>
            </a:r>
            <a:r>
              <a:rPr lang="en-US" sz="4000" dirty="0" err="1">
                <a:solidFill>
                  <a:srgbClr val="000000"/>
                </a:solidFill>
                <a:latin typeface="Alatsi"/>
                <a:ea typeface="Alatsi"/>
                <a:cs typeface="Alatsi"/>
                <a:sym typeface="Alatsi"/>
              </a:rPr>
              <a:t>Kamatam</a:t>
            </a:r>
            <a:endParaRPr lang="en-US" sz="4000" dirty="0">
              <a:solidFill>
                <a:srgbClr val="000000"/>
              </a:solidFill>
              <a:latin typeface="Alatsi"/>
              <a:ea typeface="Alatsi"/>
              <a:cs typeface="Alatsi"/>
              <a:sym typeface="Alatsi"/>
            </a:endParaRPr>
          </a:p>
        </p:txBody>
      </p:sp>
      <p:sp>
        <p:nvSpPr>
          <p:cNvPr id="15" name="TextBox 15"/>
          <p:cNvSpPr txBox="1"/>
          <p:nvPr/>
        </p:nvSpPr>
        <p:spPr>
          <a:xfrm>
            <a:off x="7067640" y="8725001"/>
            <a:ext cx="6882108" cy="533299"/>
          </a:xfrm>
          <a:prstGeom prst="rect">
            <a:avLst/>
          </a:prstGeom>
        </p:spPr>
        <p:txBody>
          <a:bodyPr lIns="0" tIns="0" rIns="0" bIns="0" rtlCol="0" anchor="t">
            <a:spAutoFit/>
          </a:bodyPr>
          <a:lstStyle/>
          <a:p>
            <a:pPr algn="ctr">
              <a:lnSpc>
                <a:spcPts val="4376"/>
              </a:lnSpc>
            </a:pPr>
            <a:r>
              <a:rPr lang="en-US" sz="3126">
                <a:solidFill>
                  <a:srgbClr val="000000"/>
                </a:solidFill>
                <a:latin typeface="Alatsi"/>
                <a:ea typeface="Alatsi"/>
                <a:cs typeface="Alatsi"/>
                <a:sym typeface="Alatsi"/>
              </a:rPr>
              <a:t>UMBC | 2024</a:t>
            </a:r>
          </a:p>
        </p:txBody>
      </p:sp>
      <p:sp>
        <p:nvSpPr>
          <p:cNvPr id="16" name="Freeform 16"/>
          <p:cNvSpPr/>
          <p:nvPr/>
        </p:nvSpPr>
        <p:spPr>
          <a:xfrm>
            <a:off x="11118095"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962578" y="2483126"/>
            <a:ext cx="16459188" cy="1962076"/>
          </a:xfrm>
          <a:prstGeom prst="rect">
            <a:avLst/>
          </a:prstGeom>
        </p:spPr>
        <p:txBody>
          <a:bodyPr lIns="0" tIns="0" rIns="0" bIns="0" rtlCol="0" anchor="t">
            <a:spAutoFit/>
          </a:bodyPr>
          <a:lstStyle/>
          <a:p>
            <a:pPr marL="780695" lvl="1" indent="-390348" algn="l">
              <a:lnSpc>
                <a:spcPts val="5062"/>
              </a:lnSpc>
              <a:buFont typeface="Arial"/>
              <a:buChar char="•"/>
            </a:pPr>
            <a:r>
              <a:rPr lang="en-US" sz="3200" b="0" i="0" u="none" strike="noStrike" dirty="0">
                <a:solidFill>
                  <a:srgbClr val="000000"/>
                </a:solidFill>
                <a:effectLst/>
                <a:latin typeface="Al Nile" pitchFamily="2" charset="-78"/>
                <a:cs typeface="Al Nile" pitchFamily="2" charset="-78"/>
              </a:rPr>
              <a:t>Sanskrit to English translation presents unique challenges due to Sanskrit's intricate morphology and cultural depth, contrasted with English's reliance on word order and simpler structure.</a:t>
            </a:r>
          </a:p>
        </p:txBody>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INTRODUCTION</a:t>
            </a:r>
          </a:p>
        </p:txBody>
      </p:sp>
      <p:grpSp>
        <p:nvGrpSpPr>
          <p:cNvPr id="5" name="Group 5"/>
          <p:cNvGrpSpPr/>
          <p:nvPr/>
        </p:nvGrpSpPr>
        <p:grpSpPr>
          <a:xfrm>
            <a:off x="15859155" y="0"/>
            <a:ext cx="1562612" cy="1673225"/>
            <a:chOff x="0" y="0"/>
            <a:chExt cx="2083482" cy="2230967"/>
          </a:xfrm>
        </p:grpSpPr>
        <p:grpSp>
          <p:nvGrpSpPr>
            <p:cNvPr id="6" name="Group 6"/>
            <p:cNvGrpSpPr/>
            <p:nvPr/>
          </p:nvGrpSpPr>
          <p:grpSpPr>
            <a:xfrm>
              <a:off x="75599" y="0"/>
              <a:ext cx="1932284" cy="2230967"/>
              <a:chOff x="0" y="0"/>
              <a:chExt cx="703982" cy="812800"/>
            </a:xfrm>
          </p:grpSpPr>
          <p:sp>
            <p:nvSpPr>
              <p:cNvPr id="7" name="Freeform 7"/>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8" name="TextBox 8"/>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a:t>
              </a:r>
            </a:p>
          </p:txBody>
        </p:sp>
      </p:grpSp>
      <p:sp>
        <p:nvSpPr>
          <p:cNvPr id="10" name="Freeform 10"/>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2" name="Picture 11">
            <a:extLst>
              <a:ext uri="{FF2B5EF4-FFF2-40B4-BE49-F238E27FC236}">
                <a16:creationId xmlns:a16="http://schemas.microsoft.com/office/drawing/2014/main" id="{93ACF9CC-1431-B4C9-4594-87603D250B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3200" y="4610577"/>
            <a:ext cx="5542270" cy="4239013"/>
          </a:xfrm>
          <a:prstGeom prst="rect">
            <a:avLst/>
          </a:prstGeom>
        </p:spPr>
      </p:pic>
      <p:pic>
        <p:nvPicPr>
          <p:cNvPr id="14" name="Picture 13">
            <a:extLst>
              <a:ext uri="{FF2B5EF4-FFF2-40B4-BE49-F238E27FC236}">
                <a16:creationId xmlns:a16="http://schemas.microsoft.com/office/drawing/2014/main" id="{2DEA19D1-9402-EED1-A566-6E6AD13DC5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15984" y="4610576"/>
            <a:ext cx="5542270" cy="41949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CHALLENGES</a:t>
            </a:r>
          </a:p>
        </p:txBody>
      </p:sp>
      <p:sp>
        <p:nvSpPr>
          <p:cNvPr id="4" name="AutoShape 4"/>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5" name="AutoShape 5"/>
          <p:cNvSpPr/>
          <p:nvPr/>
        </p:nvSpPr>
        <p:spPr>
          <a:xfrm>
            <a:off x="11430169" y="9061267"/>
            <a:ext cx="7105264" cy="19050"/>
          </a:xfrm>
          <a:prstGeom prst="line">
            <a:avLst/>
          </a:prstGeom>
          <a:ln w="114300" cap="flat">
            <a:solidFill>
              <a:srgbClr val="9FC3D0"/>
            </a:solidFill>
            <a:prstDash val="solid"/>
            <a:headEnd type="none" w="sm" len="sm"/>
            <a:tailEnd type="none" w="sm" len="sm"/>
          </a:ln>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2</a:t>
              </a:r>
            </a:p>
          </p:txBody>
        </p:sp>
      </p:grpSp>
      <p:sp>
        <p:nvSpPr>
          <p:cNvPr id="11" name="Freeform 11"/>
          <p:cNvSpPr/>
          <p:nvPr/>
        </p:nvSpPr>
        <p:spPr>
          <a:xfrm>
            <a:off x="-2845001" y="43433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3601700" y="614206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a:grpSpLocks noChangeAspect="1"/>
          </p:cNvGrpSpPr>
          <p:nvPr/>
        </p:nvGrpSpPr>
        <p:grpSpPr>
          <a:xfrm>
            <a:off x="12417873" y="1872426"/>
            <a:ext cx="5206128" cy="5206107"/>
            <a:chOff x="0" y="0"/>
            <a:chExt cx="6350025" cy="6350000"/>
          </a:xfrm>
        </p:grpSpPr>
        <p:sp>
          <p:nvSpPr>
            <p:cNvPr id="14" name="Freeform 14"/>
            <p:cNvSpPr/>
            <p:nvPr/>
          </p:nvSpPr>
          <p:spPr>
            <a:xfrm>
              <a:off x="0" y="0"/>
              <a:ext cx="6350026" cy="6350000"/>
            </a:xfrm>
            <a:custGeom>
              <a:avLst/>
              <a:gdLst/>
              <a:ahLst/>
              <a:cxnLst/>
              <a:rect l="l" t="t" r="r" b="b"/>
              <a:pathLst>
                <a:path w="6350026" h="6350000">
                  <a:moveTo>
                    <a:pt x="0" y="0"/>
                  </a:moveTo>
                  <a:lnTo>
                    <a:pt x="6350026" y="0"/>
                  </a:lnTo>
                  <a:lnTo>
                    <a:pt x="6350026" y="6350000"/>
                  </a:lnTo>
                  <a:lnTo>
                    <a:pt x="0" y="6350000"/>
                  </a:lnTo>
                  <a:close/>
                </a:path>
              </a:pathLst>
            </a:custGeom>
            <a:blipFill>
              <a:blip r:embed="rId4"/>
              <a:stretch>
                <a:fillRect l="-25757" r="-25757"/>
              </a:stretch>
            </a:blipFill>
          </p:spPr>
        </p:sp>
      </p:grpSp>
      <p:sp>
        <p:nvSpPr>
          <p:cNvPr id="15" name="Freeform 15"/>
          <p:cNvSpPr/>
          <p:nvPr/>
        </p:nvSpPr>
        <p:spPr>
          <a:xfrm>
            <a:off x="7015296" y="4757102"/>
            <a:ext cx="6415773" cy="3239965"/>
          </a:xfrm>
          <a:custGeom>
            <a:avLst/>
            <a:gdLst/>
            <a:ahLst/>
            <a:cxnLst/>
            <a:rect l="l" t="t" r="r" b="b"/>
            <a:pathLst>
              <a:path w="6415773" h="3239965">
                <a:moveTo>
                  <a:pt x="0" y="0"/>
                </a:moveTo>
                <a:lnTo>
                  <a:pt x="6415773" y="0"/>
                </a:lnTo>
                <a:lnTo>
                  <a:pt x="6415773" y="3239966"/>
                </a:lnTo>
                <a:lnTo>
                  <a:pt x="0" y="3239966"/>
                </a:lnTo>
                <a:lnTo>
                  <a:pt x="0" y="0"/>
                </a:lnTo>
                <a:close/>
              </a:path>
            </a:pathLst>
          </a:custGeom>
          <a:blipFill>
            <a:blip r:embed="rId5"/>
            <a:stretch>
              <a:fillRect/>
            </a:stretch>
          </a:blipFill>
        </p:spPr>
      </p:sp>
      <p:sp>
        <p:nvSpPr>
          <p:cNvPr id="16" name="TextBox 16"/>
          <p:cNvSpPr txBox="1"/>
          <p:nvPr/>
        </p:nvSpPr>
        <p:spPr>
          <a:xfrm>
            <a:off x="1221986" y="3305470"/>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dirty="0">
                <a:solidFill>
                  <a:srgbClr val="000000"/>
                </a:solidFill>
                <a:latin typeface="Alatsi"/>
                <a:ea typeface="Alatsi"/>
                <a:cs typeface="Alatsi"/>
                <a:sym typeface="Alatsi"/>
              </a:rPr>
              <a:t>Free Word Order</a:t>
            </a:r>
          </a:p>
        </p:txBody>
      </p:sp>
      <p:sp>
        <p:nvSpPr>
          <p:cNvPr id="17" name="TextBox 17"/>
          <p:cNvSpPr txBox="1"/>
          <p:nvPr/>
        </p:nvSpPr>
        <p:spPr>
          <a:xfrm>
            <a:off x="1221986" y="4408805"/>
            <a:ext cx="5622679"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Complex Morphology</a:t>
            </a:r>
          </a:p>
        </p:txBody>
      </p:sp>
      <p:sp>
        <p:nvSpPr>
          <p:cNvPr id="18" name="TextBox 18"/>
          <p:cNvSpPr txBox="1"/>
          <p:nvPr/>
        </p:nvSpPr>
        <p:spPr>
          <a:xfrm>
            <a:off x="1221986" y="5512140"/>
            <a:ext cx="5241454"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Compounded Words </a:t>
            </a:r>
          </a:p>
        </p:txBody>
      </p:sp>
      <p:sp>
        <p:nvSpPr>
          <p:cNvPr id="19" name="TextBox 19"/>
          <p:cNvSpPr txBox="1"/>
          <p:nvPr/>
        </p:nvSpPr>
        <p:spPr>
          <a:xfrm>
            <a:off x="1221986" y="6618310"/>
            <a:ext cx="5487523"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dirty="0">
                <a:solidFill>
                  <a:srgbClr val="000000"/>
                </a:solidFill>
                <a:latin typeface="Alatsi"/>
                <a:ea typeface="Alatsi"/>
                <a:cs typeface="Alatsi"/>
                <a:sym typeface="Alatsi"/>
              </a:rPr>
              <a:t>Limited Training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866775"/>
            <a:ext cx="16230600"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TRANSLATION APPROACHES</a:t>
            </a:r>
          </a:p>
        </p:txBody>
      </p:sp>
      <p:grpSp>
        <p:nvGrpSpPr>
          <p:cNvPr id="4" name="Group 4"/>
          <p:cNvGrpSpPr/>
          <p:nvPr/>
        </p:nvGrpSpPr>
        <p:grpSpPr>
          <a:xfrm>
            <a:off x="1390722" y="3102810"/>
            <a:ext cx="7753278" cy="4894551"/>
            <a:chOff x="0" y="0"/>
            <a:chExt cx="2042016" cy="1289100"/>
          </a:xfrm>
        </p:grpSpPr>
        <p:sp>
          <p:nvSpPr>
            <p:cNvPr id="5" name="Freeform 5"/>
            <p:cNvSpPr/>
            <p:nvPr/>
          </p:nvSpPr>
          <p:spPr>
            <a:xfrm>
              <a:off x="0" y="0"/>
              <a:ext cx="2042015" cy="1289100"/>
            </a:xfrm>
            <a:custGeom>
              <a:avLst/>
              <a:gdLst/>
              <a:ahLst/>
              <a:cxnLst/>
              <a:rect l="l" t="t" r="r" b="b"/>
              <a:pathLst>
                <a:path w="2042015" h="1289100">
                  <a:moveTo>
                    <a:pt x="50925" y="0"/>
                  </a:moveTo>
                  <a:lnTo>
                    <a:pt x="1991090" y="0"/>
                  </a:lnTo>
                  <a:cubicBezTo>
                    <a:pt x="2004596" y="0"/>
                    <a:pt x="2017550" y="5365"/>
                    <a:pt x="2027100" y="14916"/>
                  </a:cubicBezTo>
                  <a:cubicBezTo>
                    <a:pt x="2036650" y="24466"/>
                    <a:pt x="2042015" y="37419"/>
                    <a:pt x="2042015" y="50925"/>
                  </a:cubicBezTo>
                  <a:lnTo>
                    <a:pt x="2042015" y="1238175"/>
                  </a:lnTo>
                  <a:cubicBezTo>
                    <a:pt x="2042015" y="1266300"/>
                    <a:pt x="2019216" y="1289100"/>
                    <a:pt x="1991090" y="1289100"/>
                  </a:cubicBezTo>
                  <a:lnTo>
                    <a:pt x="50925" y="1289100"/>
                  </a:lnTo>
                  <a:cubicBezTo>
                    <a:pt x="22800" y="1289100"/>
                    <a:pt x="0" y="1266300"/>
                    <a:pt x="0" y="1238175"/>
                  </a:cubicBezTo>
                  <a:lnTo>
                    <a:pt x="0" y="50925"/>
                  </a:lnTo>
                  <a:cubicBezTo>
                    <a:pt x="0" y="22800"/>
                    <a:pt x="22800" y="0"/>
                    <a:pt x="50925" y="0"/>
                  </a:cubicBezTo>
                  <a:close/>
                </a:path>
              </a:pathLst>
            </a:custGeom>
            <a:solidFill>
              <a:srgbClr val="E9C7C6"/>
            </a:solidFill>
          </p:spPr>
        </p:sp>
        <p:sp>
          <p:nvSpPr>
            <p:cNvPr id="6" name="TextBox 6"/>
            <p:cNvSpPr txBox="1"/>
            <p:nvPr/>
          </p:nvSpPr>
          <p:spPr>
            <a:xfrm>
              <a:off x="0" y="-38100"/>
              <a:ext cx="2042016" cy="13272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2508477" y="4218641"/>
            <a:ext cx="4278685" cy="3356288"/>
          </a:xfrm>
          <a:prstGeom prst="rect">
            <a:avLst/>
          </a:prstGeom>
        </p:spPr>
        <p:txBody>
          <a:bodyPr lIns="0" tIns="0" rIns="0" bIns="0" rtlCol="0" anchor="t">
            <a:spAutoFit/>
          </a:bodyPr>
          <a:lstStyle/>
          <a:p>
            <a:pPr algn="l">
              <a:lnSpc>
                <a:spcPts val="3376"/>
              </a:lnSpc>
            </a:pPr>
            <a:r>
              <a:rPr lang="en-US" sz="2412">
                <a:solidFill>
                  <a:srgbClr val="000000"/>
                </a:solidFill>
                <a:latin typeface="Alatsi"/>
                <a:ea typeface="Alatsi"/>
                <a:cs typeface="Alatsi"/>
                <a:sym typeface="Alatsi"/>
              </a:rPr>
              <a:t>Rule-Based Machine Translation (RBMT) uses predefined grammatical rules and dictionaries and Statistical Machine Translation (SMT), rely on probabilities derived from large bilingual corpora</a:t>
            </a:r>
          </a:p>
          <a:p>
            <a:pPr algn="l">
              <a:lnSpc>
                <a:spcPts val="3376"/>
              </a:lnSpc>
            </a:pPr>
            <a:endParaRPr lang="en-US" sz="2412">
              <a:solidFill>
                <a:srgbClr val="000000"/>
              </a:solidFill>
              <a:latin typeface="Alatsi"/>
              <a:ea typeface="Alatsi"/>
              <a:cs typeface="Alatsi"/>
              <a:sym typeface="Alatsi"/>
            </a:endParaRPr>
          </a:p>
        </p:txBody>
      </p:sp>
      <p:sp>
        <p:nvSpPr>
          <p:cNvPr id="8" name="TextBox 8"/>
          <p:cNvSpPr txBox="1"/>
          <p:nvPr/>
        </p:nvSpPr>
        <p:spPr>
          <a:xfrm>
            <a:off x="2479902" y="3496012"/>
            <a:ext cx="5891359" cy="679450"/>
          </a:xfrm>
          <a:prstGeom prst="rect">
            <a:avLst/>
          </a:prstGeom>
        </p:spPr>
        <p:txBody>
          <a:bodyPr lIns="0" tIns="0" rIns="0" bIns="0" rtlCol="0" anchor="t">
            <a:spAutoFit/>
          </a:bodyPr>
          <a:lstStyle/>
          <a:p>
            <a:pPr algn="l">
              <a:lnSpc>
                <a:spcPts val="5599"/>
              </a:lnSpc>
            </a:pPr>
            <a:r>
              <a:rPr lang="en-US" sz="3999" dirty="0">
                <a:solidFill>
                  <a:srgbClr val="000000"/>
                </a:solidFill>
                <a:latin typeface="Alatsi"/>
                <a:ea typeface="Alatsi"/>
                <a:cs typeface="Alatsi"/>
                <a:sym typeface="Alatsi"/>
              </a:rPr>
              <a:t>Traditional Methods</a:t>
            </a:r>
          </a:p>
        </p:txBody>
      </p:sp>
      <p:sp>
        <p:nvSpPr>
          <p:cNvPr id="9" name="Freeform 9"/>
          <p:cNvSpPr/>
          <p:nvPr/>
        </p:nvSpPr>
        <p:spPr>
          <a:xfrm>
            <a:off x="13417488" y="614217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9534597" y="3102810"/>
            <a:ext cx="7540491" cy="4786781"/>
            <a:chOff x="0" y="0"/>
            <a:chExt cx="1985973" cy="1260716"/>
          </a:xfrm>
        </p:grpSpPr>
        <p:sp>
          <p:nvSpPr>
            <p:cNvPr id="11" name="Freeform 11"/>
            <p:cNvSpPr/>
            <p:nvPr/>
          </p:nvSpPr>
          <p:spPr>
            <a:xfrm>
              <a:off x="0" y="0"/>
              <a:ext cx="1985973" cy="1260716"/>
            </a:xfrm>
            <a:custGeom>
              <a:avLst/>
              <a:gdLst/>
              <a:ahLst/>
              <a:cxnLst/>
              <a:rect l="l" t="t" r="r" b="b"/>
              <a:pathLst>
                <a:path w="1985973" h="1260716">
                  <a:moveTo>
                    <a:pt x="52362" y="0"/>
                  </a:moveTo>
                  <a:lnTo>
                    <a:pt x="1933610" y="0"/>
                  </a:lnTo>
                  <a:cubicBezTo>
                    <a:pt x="1947498" y="0"/>
                    <a:pt x="1960816" y="5517"/>
                    <a:pt x="1970636" y="15337"/>
                  </a:cubicBezTo>
                  <a:cubicBezTo>
                    <a:pt x="1980456" y="25156"/>
                    <a:pt x="1985973" y="38475"/>
                    <a:pt x="1985973" y="52362"/>
                  </a:cubicBezTo>
                  <a:lnTo>
                    <a:pt x="1985973" y="1208354"/>
                  </a:lnTo>
                  <a:cubicBezTo>
                    <a:pt x="1985973" y="1237273"/>
                    <a:pt x="1962529" y="1260716"/>
                    <a:pt x="1933610" y="1260716"/>
                  </a:cubicBezTo>
                  <a:lnTo>
                    <a:pt x="52362" y="1260716"/>
                  </a:lnTo>
                  <a:cubicBezTo>
                    <a:pt x="38475" y="1260716"/>
                    <a:pt x="25156" y="1255199"/>
                    <a:pt x="15337" y="1245380"/>
                  </a:cubicBezTo>
                  <a:cubicBezTo>
                    <a:pt x="5517" y="1235560"/>
                    <a:pt x="0" y="1222241"/>
                    <a:pt x="0" y="1208354"/>
                  </a:cubicBezTo>
                  <a:lnTo>
                    <a:pt x="0" y="52362"/>
                  </a:lnTo>
                  <a:cubicBezTo>
                    <a:pt x="0" y="23443"/>
                    <a:pt x="23443" y="0"/>
                    <a:pt x="52362" y="0"/>
                  </a:cubicBezTo>
                  <a:close/>
                </a:path>
              </a:pathLst>
            </a:custGeom>
            <a:solidFill>
              <a:srgbClr val="E9C7C6"/>
            </a:solidFill>
          </p:spPr>
        </p:sp>
        <p:sp>
          <p:nvSpPr>
            <p:cNvPr id="12" name="TextBox 12"/>
            <p:cNvSpPr txBox="1"/>
            <p:nvPr/>
          </p:nvSpPr>
          <p:spPr>
            <a:xfrm>
              <a:off x="0" y="-38100"/>
              <a:ext cx="1985973" cy="1298816"/>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0667924" y="4218641"/>
            <a:ext cx="5499127" cy="1653540"/>
          </a:xfrm>
          <a:prstGeom prst="rect">
            <a:avLst/>
          </a:prstGeom>
        </p:spPr>
        <p:txBody>
          <a:bodyPr lIns="0" tIns="0" rIns="0" bIns="0" rtlCol="0" anchor="t">
            <a:spAutoFit/>
          </a:bodyPr>
          <a:lstStyle/>
          <a:p>
            <a:pPr algn="l">
              <a:lnSpc>
                <a:spcPts val="3359"/>
              </a:lnSpc>
            </a:pPr>
            <a:r>
              <a:rPr lang="en-US" sz="2400">
                <a:solidFill>
                  <a:srgbClr val="000000"/>
                </a:solidFill>
                <a:latin typeface="Alatsi"/>
                <a:ea typeface="Alatsi"/>
                <a:cs typeface="Alatsi"/>
                <a:sym typeface="Alatsi"/>
              </a:rPr>
              <a:t>Neural Machine Translation (NMT) leverages deep learning, specifically neural networks, to learn complex patterns from vast amounts of data.  </a:t>
            </a:r>
          </a:p>
        </p:txBody>
      </p:sp>
      <p:sp>
        <p:nvSpPr>
          <p:cNvPr id="14" name="TextBox 14"/>
          <p:cNvSpPr txBox="1"/>
          <p:nvPr/>
        </p:nvSpPr>
        <p:spPr>
          <a:xfrm>
            <a:off x="10639349" y="3496012"/>
            <a:ext cx="5710177" cy="679450"/>
          </a:xfrm>
          <a:prstGeom prst="rect">
            <a:avLst/>
          </a:prstGeom>
        </p:spPr>
        <p:txBody>
          <a:bodyPr lIns="0" tIns="0" rIns="0" bIns="0" rtlCol="0" anchor="t">
            <a:spAutoFit/>
          </a:bodyPr>
          <a:lstStyle/>
          <a:p>
            <a:pPr algn="l">
              <a:lnSpc>
                <a:spcPts val="5599"/>
              </a:lnSpc>
            </a:pPr>
            <a:r>
              <a:rPr lang="en-US" sz="3999">
                <a:solidFill>
                  <a:srgbClr val="000000"/>
                </a:solidFill>
                <a:latin typeface="Alatsi"/>
                <a:ea typeface="Alatsi"/>
                <a:cs typeface="Alatsi"/>
                <a:sym typeface="Alatsi"/>
              </a:rPr>
              <a:t>Neural Network-Based </a:t>
            </a:r>
          </a:p>
        </p:txBody>
      </p:sp>
      <p:grpSp>
        <p:nvGrpSpPr>
          <p:cNvPr id="15" name="Group 15"/>
          <p:cNvGrpSpPr/>
          <p:nvPr/>
        </p:nvGrpSpPr>
        <p:grpSpPr>
          <a:xfrm>
            <a:off x="1739665" y="3615357"/>
            <a:ext cx="516960" cy="51696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9944736" y="3615357"/>
            <a:ext cx="516960" cy="51696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AutoShape 21"/>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22" name="AutoShape 22"/>
          <p:cNvSpPr/>
          <p:nvPr/>
        </p:nvSpPr>
        <p:spPr>
          <a:xfrm>
            <a:off x="11430169" y="9061267"/>
            <a:ext cx="7105264" cy="19050"/>
          </a:xfrm>
          <a:prstGeom prst="line">
            <a:avLst/>
          </a:prstGeom>
          <a:ln w="114300" cap="flat">
            <a:solidFill>
              <a:srgbClr val="9FC3D0"/>
            </a:solidFill>
            <a:prstDash val="solid"/>
            <a:headEnd type="none" w="sm" len="sm"/>
            <a:tailEnd type="none" w="sm" len="sm"/>
          </a:ln>
        </p:spPr>
      </p:sp>
      <p:grpSp>
        <p:nvGrpSpPr>
          <p:cNvPr id="23" name="Group 23"/>
          <p:cNvGrpSpPr/>
          <p:nvPr/>
        </p:nvGrpSpPr>
        <p:grpSpPr>
          <a:xfrm>
            <a:off x="15859155" y="0"/>
            <a:ext cx="1562612" cy="1673225"/>
            <a:chOff x="0" y="0"/>
            <a:chExt cx="2083482" cy="2230967"/>
          </a:xfrm>
        </p:grpSpPr>
        <p:grpSp>
          <p:nvGrpSpPr>
            <p:cNvPr id="24" name="Group 24"/>
            <p:cNvGrpSpPr/>
            <p:nvPr/>
          </p:nvGrpSpPr>
          <p:grpSpPr>
            <a:xfrm>
              <a:off x="75599" y="0"/>
              <a:ext cx="1932284" cy="2230967"/>
              <a:chOff x="0" y="0"/>
              <a:chExt cx="703982" cy="812800"/>
            </a:xfrm>
          </p:grpSpPr>
          <p:sp>
            <p:nvSpPr>
              <p:cNvPr id="25" name="Freeform 25"/>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26" name="TextBox 26"/>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0" y="437581"/>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3</a:t>
              </a:r>
            </a:p>
          </p:txBody>
        </p:sp>
      </p:grpSp>
      <p:sp>
        <p:nvSpPr>
          <p:cNvPr id="28" name="Freeform 28"/>
          <p:cNvSpPr/>
          <p:nvPr/>
        </p:nvSpPr>
        <p:spPr>
          <a:xfrm>
            <a:off x="-2243137" y="-40227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923925"/>
            <a:ext cx="16230600" cy="969638"/>
          </a:xfrm>
          <a:prstGeom prst="rect">
            <a:avLst/>
          </a:prstGeom>
        </p:spPr>
        <p:txBody>
          <a:bodyPr lIns="0" tIns="0" rIns="0" bIns="0" rtlCol="0" anchor="t">
            <a:spAutoFit/>
          </a:bodyPr>
          <a:lstStyle/>
          <a:p>
            <a:pPr algn="ctr">
              <a:lnSpc>
                <a:spcPts val="7980"/>
              </a:lnSpc>
            </a:pPr>
            <a:r>
              <a:rPr lang="en-US" sz="5700">
                <a:solidFill>
                  <a:srgbClr val="000000"/>
                </a:solidFill>
                <a:latin typeface="Alatsi"/>
                <a:ea typeface="Alatsi"/>
                <a:cs typeface="Alatsi"/>
                <a:sym typeface="Alatsi"/>
              </a:rPr>
              <a:t>ENCODER-DECODER LSTM ARCHITECTURE</a:t>
            </a:r>
          </a:p>
        </p:txBody>
      </p:sp>
      <p:grpSp>
        <p:nvGrpSpPr>
          <p:cNvPr id="3" name="Group 3"/>
          <p:cNvGrpSpPr/>
          <p:nvPr/>
        </p:nvGrpSpPr>
        <p:grpSpPr>
          <a:xfrm>
            <a:off x="1564423" y="2175958"/>
            <a:ext cx="15516465" cy="8076816"/>
            <a:chOff x="0" y="-63120"/>
            <a:chExt cx="20688620" cy="10769088"/>
          </a:xfrm>
        </p:grpSpPr>
        <p:grpSp>
          <p:nvGrpSpPr>
            <p:cNvPr id="4" name="Group 4"/>
            <p:cNvGrpSpPr/>
            <p:nvPr/>
          </p:nvGrpSpPr>
          <p:grpSpPr>
            <a:xfrm>
              <a:off x="0" y="0"/>
              <a:ext cx="1473815" cy="147381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0" y="130580"/>
              <a:ext cx="1473815" cy="1117405"/>
            </a:xfrm>
            <a:prstGeom prst="rect">
              <a:avLst/>
            </a:prstGeom>
          </p:spPr>
          <p:txBody>
            <a:bodyPr lIns="0" tIns="0" rIns="0" bIns="0" rtlCol="0" anchor="t">
              <a:spAutoFit/>
            </a:bodyPr>
            <a:lstStyle/>
            <a:p>
              <a:pPr algn="ctr">
                <a:lnSpc>
                  <a:spcPts val="7048"/>
                </a:lnSpc>
              </a:pPr>
              <a:r>
                <a:rPr lang="en-US" sz="5034">
                  <a:solidFill>
                    <a:srgbClr val="000000"/>
                  </a:solidFill>
                  <a:latin typeface="Alatsi"/>
                  <a:ea typeface="Alatsi"/>
                  <a:cs typeface="Alatsi"/>
                  <a:sym typeface="Alatsi"/>
                </a:rPr>
                <a:t>1</a:t>
              </a:r>
            </a:p>
          </p:txBody>
        </p:sp>
        <p:grpSp>
          <p:nvGrpSpPr>
            <p:cNvPr id="8" name="Group 8"/>
            <p:cNvGrpSpPr/>
            <p:nvPr/>
          </p:nvGrpSpPr>
          <p:grpSpPr>
            <a:xfrm>
              <a:off x="0" y="2742037"/>
              <a:ext cx="1473815" cy="147381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2872617"/>
              <a:ext cx="1473815" cy="1117405"/>
            </a:xfrm>
            <a:prstGeom prst="rect">
              <a:avLst/>
            </a:prstGeom>
          </p:spPr>
          <p:txBody>
            <a:bodyPr lIns="0" tIns="0" rIns="0" bIns="0" rtlCol="0" anchor="t">
              <a:spAutoFit/>
            </a:bodyPr>
            <a:lstStyle/>
            <a:p>
              <a:pPr algn="ctr">
                <a:lnSpc>
                  <a:spcPts val="7048"/>
                </a:lnSpc>
              </a:pPr>
              <a:r>
                <a:rPr lang="en-US" sz="5034">
                  <a:solidFill>
                    <a:srgbClr val="000000"/>
                  </a:solidFill>
                  <a:latin typeface="Alatsi"/>
                  <a:ea typeface="Alatsi"/>
                  <a:cs typeface="Alatsi"/>
                  <a:sym typeface="Alatsi"/>
                </a:rPr>
                <a:t>2</a:t>
              </a:r>
            </a:p>
          </p:txBody>
        </p:sp>
        <p:grpSp>
          <p:nvGrpSpPr>
            <p:cNvPr id="12" name="Group 12"/>
            <p:cNvGrpSpPr/>
            <p:nvPr/>
          </p:nvGrpSpPr>
          <p:grpSpPr>
            <a:xfrm>
              <a:off x="17507" y="5553160"/>
              <a:ext cx="1473815" cy="2500794"/>
              <a:chOff x="9655" y="38100"/>
              <a:chExt cx="812800" cy="1379173"/>
            </a:xfrm>
          </p:grpSpPr>
          <p:sp>
            <p:nvSpPr>
              <p:cNvPr id="13" name="Freeform 13"/>
              <p:cNvSpPr/>
              <p:nvPr/>
            </p:nvSpPr>
            <p:spPr>
              <a:xfrm>
                <a:off x="9655" y="604473"/>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7507" y="6632957"/>
              <a:ext cx="1473815" cy="1117405"/>
            </a:xfrm>
            <a:prstGeom prst="rect">
              <a:avLst/>
            </a:prstGeom>
          </p:spPr>
          <p:txBody>
            <a:bodyPr lIns="0" tIns="0" rIns="0" bIns="0" rtlCol="0" anchor="t">
              <a:spAutoFit/>
            </a:bodyPr>
            <a:lstStyle/>
            <a:p>
              <a:pPr algn="ctr">
                <a:lnSpc>
                  <a:spcPts val="7048"/>
                </a:lnSpc>
              </a:pPr>
              <a:r>
                <a:rPr lang="en-US" sz="5034" dirty="0">
                  <a:solidFill>
                    <a:srgbClr val="000000"/>
                  </a:solidFill>
                  <a:latin typeface="Alatsi"/>
                  <a:ea typeface="Alatsi"/>
                  <a:cs typeface="Alatsi"/>
                  <a:sym typeface="Alatsi"/>
                </a:rPr>
                <a:t>3</a:t>
              </a:r>
            </a:p>
          </p:txBody>
        </p:sp>
        <p:sp>
          <p:nvSpPr>
            <p:cNvPr id="16" name="TextBox 16"/>
            <p:cNvSpPr txBox="1"/>
            <p:nvPr/>
          </p:nvSpPr>
          <p:spPr>
            <a:xfrm>
              <a:off x="1711697" y="-63120"/>
              <a:ext cx="18976923" cy="2523063"/>
            </a:xfrm>
            <a:prstGeom prst="rect">
              <a:avLst/>
            </a:prstGeom>
          </p:spPr>
          <p:txBody>
            <a:bodyPr lIns="0" tIns="0" rIns="0" bIns="0" rtlCol="0" anchor="t">
              <a:spAutoFit/>
            </a:bodyPr>
            <a:lstStyle/>
            <a:p>
              <a:pPr algn="l">
                <a:lnSpc>
                  <a:spcPts val="4322"/>
                </a:lnSpc>
              </a:pPr>
              <a:r>
                <a:rPr lang="en-US" sz="3087" dirty="0">
                  <a:solidFill>
                    <a:srgbClr val="000000"/>
                  </a:solidFill>
                  <a:latin typeface="Alatsi"/>
                  <a:ea typeface="Alatsi"/>
                  <a:cs typeface="Alatsi"/>
                  <a:sym typeface="Alatsi"/>
                </a:rPr>
                <a:t>Input Processing: </a:t>
              </a:r>
            </a:p>
            <a:p>
              <a:pPr marL="561341" lvl="1" indent="-280670" algn="l">
                <a:lnSpc>
                  <a:spcPts val="3640"/>
                </a:lnSpc>
                <a:buFont typeface="Arial"/>
                <a:buChar char="•"/>
              </a:pPr>
              <a:r>
                <a:rPr lang="en-US" sz="2600" dirty="0">
                  <a:solidFill>
                    <a:srgbClr val="000000"/>
                  </a:solidFill>
                  <a:latin typeface="Alatsi"/>
                  <a:ea typeface="Alatsi"/>
                  <a:cs typeface="Alatsi"/>
                  <a:sym typeface="Alatsi"/>
                </a:rPr>
                <a:t>The Encoder takes a sequence of tokens as input where each word is first embedded into a vector of fixed dimensions using an embedding layer.</a:t>
              </a:r>
            </a:p>
            <a:p>
              <a:pPr algn="l">
                <a:lnSpc>
                  <a:spcPts val="3640"/>
                </a:lnSpc>
              </a:pPr>
              <a:endParaRPr lang="en-US" sz="2600" dirty="0">
                <a:solidFill>
                  <a:srgbClr val="000000"/>
                </a:solidFill>
                <a:latin typeface="Alatsi"/>
                <a:ea typeface="Alatsi"/>
                <a:cs typeface="Alatsi"/>
                <a:sym typeface="Alatsi"/>
              </a:endParaRPr>
            </a:p>
          </p:txBody>
        </p:sp>
        <p:sp>
          <p:nvSpPr>
            <p:cNvPr id="17" name="TextBox 17"/>
            <p:cNvSpPr txBox="1"/>
            <p:nvPr/>
          </p:nvSpPr>
          <p:spPr>
            <a:xfrm>
              <a:off x="1711697" y="2677140"/>
              <a:ext cx="18976923" cy="4391373"/>
            </a:xfrm>
            <a:prstGeom prst="rect">
              <a:avLst/>
            </a:prstGeom>
          </p:spPr>
          <p:txBody>
            <a:bodyPr lIns="0" tIns="0" rIns="0" bIns="0" rtlCol="0" anchor="t">
              <a:spAutoFit/>
            </a:bodyPr>
            <a:lstStyle/>
            <a:p>
              <a:pPr algn="l">
                <a:lnSpc>
                  <a:spcPts val="4322"/>
                </a:lnSpc>
              </a:pPr>
              <a:r>
                <a:rPr lang="en-US" sz="3087" dirty="0">
                  <a:solidFill>
                    <a:srgbClr val="000000"/>
                  </a:solidFill>
                  <a:latin typeface="Alatsi"/>
                  <a:ea typeface="Alatsi"/>
                  <a:cs typeface="Alatsi"/>
                  <a:sym typeface="Alatsi"/>
                </a:rPr>
                <a:t>Sequence Modeling: </a:t>
              </a:r>
            </a:p>
            <a:p>
              <a:pPr marL="561341" lvl="1" indent="-280670" algn="l">
                <a:lnSpc>
                  <a:spcPts val="3640"/>
                </a:lnSpc>
                <a:buFont typeface="Arial"/>
                <a:buChar char="•"/>
              </a:pPr>
              <a:r>
                <a:rPr lang="en-US" sz="2600" dirty="0">
                  <a:solidFill>
                    <a:srgbClr val="000000"/>
                  </a:solidFill>
                  <a:latin typeface="Alatsi"/>
                  <a:ea typeface="Alatsi"/>
                  <a:cs typeface="Alatsi"/>
                  <a:sym typeface="Alatsi"/>
                </a:rPr>
                <a:t>The sequence of word embeddings is fed through </a:t>
              </a:r>
            </a:p>
            <a:p>
              <a:pPr marL="280671" lvl="1" algn="l">
                <a:lnSpc>
                  <a:spcPts val="3640"/>
                </a:lnSpc>
              </a:pPr>
              <a:r>
                <a:rPr lang="en-US" sz="2600" dirty="0">
                  <a:solidFill>
                    <a:srgbClr val="000000"/>
                  </a:solidFill>
                  <a:latin typeface="Alatsi"/>
                  <a:ea typeface="Alatsi"/>
                  <a:cs typeface="Alatsi"/>
                  <a:sym typeface="Alatsi"/>
                </a:rPr>
                <a:t>     one or more layers of LSTM units.</a:t>
              </a:r>
            </a:p>
            <a:p>
              <a:pPr marL="561341" lvl="1" indent="-280670" algn="l">
                <a:lnSpc>
                  <a:spcPts val="3640"/>
                </a:lnSpc>
                <a:buFont typeface="Arial"/>
                <a:buChar char="•"/>
              </a:pPr>
              <a:r>
                <a:rPr lang="en-US" sz="2600" dirty="0">
                  <a:solidFill>
                    <a:srgbClr val="000000"/>
                  </a:solidFill>
                  <a:latin typeface="Alatsi"/>
                  <a:ea typeface="Alatsi"/>
                  <a:cs typeface="Alatsi"/>
                  <a:sym typeface="Alatsi"/>
                </a:rPr>
                <a:t>LSTMs capture the sequential context by maintaining </a:t>
              </a:r>
            </a:p>
            <a:p>
              <a:pPr marL="280671" lvl="1" algn="l">
                <a:lnSpc>
                  <a:spcPts val="3640"/>
                </a:lnSpc>
              </a:pPr>
              <a:r>
                <a:rPr lang="en-US" sz="2600" dirty="0">
                  <a:solidFill>
                    <a:srgbClr val="000000"/>
                  </a:solidFill>
                  <a:latin typeface="Alatsi"/>
                  <a:ea typeface="Alatsi"/>
                  <a:cs typeface="Alatsi"/>
                  <a:sym typeface="Alatsi"/>
                </a:rPr>
                <a:t>     a hidden state and a cell state that are updated at </a:t>
              </a:r>
            </a:p>
            <a:p>
              <a:pPr marL="280671" lvl="1" algn="l">
                <a:lnSpc>
                  <a:spcPts val="3640"/>
                </a:lnSpc>
              </a:pPr>
              <a:r>
                <a:rPr lang="en-US" sz="2600" dirty="0">
                  <a:solidFill>
                    <a:srgbClr val="000000"/>
                  </a:solidFill>
                  <a:latin typeface="Alatsi"/>
                  <a:ea typeface="Alatsi"/>
                  <a:cs typeface="Alatsi"/>
                  <a:sym typeface="Alatsi"/>
                </a:rPr>
                <a:t>     each step in the sequence.</a:t>
              </a:r>
            </a:p>
            <a:p>
              <a:pPr algn="l">
                <a:lnSpc>
                  <a:spcPts val="3622"/>
                </a:lnSpc>
              </a:pPr>
              <a:endParaRPr lang="en-US" sz="2600" dirty="0">
                <a:solidFill>
                  <a:srgbClr val="000000"/>
                </a:solidFill>
                <a:latin typeface="Alatsi"/>
                <a:ea typeface="Alatsi"/>
                <a:cs typeface="Alatsi"/>
                <a:sym typeface="Alatsi"/>
              </a:endParaRPr>
            </a:p>
          </p:txBody>
        </p:sp>
        <p:sp>
          <p:nvSpPr>
            <p:cNvPr id="18" name="TextBox 18"/>
            <p:cNvSpPr txBox="1"/>
            <p:nvPr/>
          </p:nvSpPr>
          <p:spPr>
            <a:xfrm>
              <a:off x="1711697" y="6720688"/>
              <a:ext cx="17491317" cy="3985280"/>
            </a:xfrm>
            <a:prstGeom prst="rect">
              <a:avLst/>
            </a:prstGeom>
          </p:spPr>
          <p:txBody>
            <a:bodyPr wrap="square" lIns="0" tIns="0" rIns="0" bIns="0" rtlCol="0" anchor="t">
              <a:spAutoFit/>
            </a:bodyPr>
            <a:lstStyle/>
            <a:p>
              <a:pPr algn="l">
                <a:lnSpc>
                  <a:spcPts val="4322"/>
                </a:lnSpc>
              </a:pPr>
              <a:r>
                <a:rPr lang="en-US" sz="3087" dirty="0">
                  <a:solidFill>
                    <a:srgbClr val="000000"/>
                  </a:solidFill>
                  <a:latin typeface="Alatsi"/>
                  <a:ea typeface="Alatsi"/>
                  <a:cs typeface="Alatsi"/>
                  <a:sym typeface="Alatsi"/>
                </a:rPr>
                <a:t>Context Vector Generation: </a:t>
              </a:r>
            </a:p>
            <a:p>
              <a:pPr marL="561341" lvl="1" indent="-280670" algn="l">
                <a:lnSpc>
                  <a:spcPts val="3640"/>
                </a:lnSpc>
                <a:buFont typeface="Arial"/>
                <a:buChar char="•"/>
              </a:pPr>
              <a:r>
                <a:rPr lang="en-US" sz="2600" dirty="0">
                  <a:solidFill>
                    <a:srgbClr val="000000"/>
                  </a:solidFill>
                  <a:latin typeface="Alatsi"/>
                  <a:ea typeface="Alatsi"/>
                  <a:cs typeface="Alatsi"/>
                  <a:sym typeface="Alatsi"/>
                </a:rPr>
                <a:t>After processing the entire input sequence, the Encoder outputs a context vector.</a:t>
              </a:r>
            </a:p>
            <a:p>
              <a:pPr marL="561341" lvl="1" indent="-280670" algn="l">
                <a:lnSpc>
                  <a:spcPts val="3640"/>
                </a:lnSpc>
                <a:buFont typeface="Arial"/>
                <a:buChar char="•"/>
              </a:pPr>
              <a:r>
                <a:rPr lang="en-US" sz="2600" dirty="0">
                  <a:solidFill>
                    <a:srgbClr val="000000"/>
                  </a:solidFill>
                  <a:latin typeface="Alatsi"/>
                  <a:ea typeface="Alatsi"/>
                  <a:cs typeface="Alatsi"/>
                  <a:sym typeface="Alatsi"/>
                </a:rPr>
                <a:t>This context vector is passed to the Decoder as the initial state, carrying the essential information needed to generate the translation.</a:t>
              </a:r>
            </a:p>
            <a:p>
              <a:pPr algn="l">
                <a:lnSpc>
                  <a:spcPts val="4322"/>
                </a:lnSpc>
              </a:pPr>
              <a:endParaRPr lang="en-US" sz="2600" dirty="0">
                <a:solidFill>
                  <a:srgbClr val="000000"/>
                </a:solidFill>
                <a:latin typeface="Alatsi"/>
                <a:ea typeface="Alatsi"/>
                <a:cs typeface="Alatsi"/>
                <a:sym typeface="Alatsi"/>
              </a:endParaRPr>
            </a:p>
            <a:p>
              <a:pPr algn="l">
                <a:lnSpc>
                  <a:spcPts val="4322"/>
                </a:lnSpc>
              </a:pPr>
              <a:endParaRPr lang="en-US" sz="2600" dirty="0">
                <a:solidFill>
                  <a:srgbClr val="000000"/>
                </a:solidFill>
                <a:latin typeface="Alatsi"/>
                <a:ea typeface="Alatsi"/>
                <a:cs typeface="Alatsi"/>
                <a:sym typeface="Alatsi"/>
              </a:endParaRPr>
            </a:p>
          </p:txBody>
        </p:sp>
      </p:grpSp>
      <p:grpSp>
        <p:nvGrpSpPr>
          <p:cNvPr id="19" name="Group 19"/>
          <p:cNvGrpSpPr/>
          <p:nvPr/>
        </p:nvGrpSpPr>
        <p:grpSpPr>
          <a:xfrm>
            <a:off x="627362" y="0"/>
            <a:ext cx="937061" cy="10287000"/>
            <a:chOff x="0" y="0"/>
            <a:chExt cx="246798" cy="2709333"/>
          </a:xfrm>
        </p:grpSpPr>
        <p:sp>
          <p:nvSpPr>
            <p:cNvPr id="20" name="Freeform 20"/>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21" name="TextBox 21"/>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22" name="AutoShape 22"/>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23" name="AutoShape 23"/>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24" name="Group 24"/>
          <p:cNvGrpSpPr/>
          <p:nvPr/>
        </p:nvGrpSpPr>
        <p:grpSpPr>
          <a:xfrm>
            <a:off x="15859155" y="0"/>
            <a:ext cx="1562612" cy="1673225"/>
            <a:chOff x="0" y="0"/>
            <a:chExt cx="2083482" cy="2230967"/>
          </a:xfrm>
        </p:grpSpPr>
        <p:grpSp>
          <p:nvGrpSpPr>
            <p:cNvPr id="25" name="Group 25"/>
            <p:cNvGrpSpPr/>
            <p:nvPr/>
          </p:nvGrpSpPr>
          <p:grpSpPr>
            <a:xfrm>
              <a:off x="75599" y="0"/>
              <a:ext cx="1932284" cy="2230967"/>
              <a:chOff x="0" y="0"/>
              <a:chExt cx="703982" cy="812800"/>
            </a:xfrm>
          </p:grpSpPr>
          <p:sp>
            <p:nvSpPr>
              <p:cNvPr id="26" name="Freeform 26"/>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27" name="TextBox 27"/>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4</a:t>
              </a:r>
            </a:p>
          </p:txBody>
        </p:sp>
      </p:grpSp>
      <p:sp>
        <p:nvSpPr>
          <p:cNvPr id="29" name="Freeform 29"/>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0" name="Freeform 30"/>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2" name="Picture 31">
            <a:extLst>
              <a:ext uri="{FF2B5EF4-FFF2-40B4-BE49-F238E27FC236}">
                <a16:creationId xmlns:a16="http://schemas.microsoft.com/office/drawing/2014/main" id="{05F22A7D-F58C-599B-531E-37DDEEF3FF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49000" y="3387721"/>
            <a:ext cx="6934200" cy="41233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923925"/>
            <a:ext cx="16230600" cy="969638"/>
          </a:xfrm>
          <a:prstGeom prst="rect">
            <a:avLst/>
          </a:prstGeom>
        </p:spPr>
        <p:txBody>
          <a:bodyPr lIns="0" tIns="0" rIns="0" bIns="0" rtlCol="0" anchor="t">
            <a:spAutoFit/>
          </a:bodyPr>
          <a:lstStyle/>
          <a:p>
            <a:pPr algn="ctr">
              <a:lnSpc>
                <a:spcPts val="7980"/>
              </a:lnSpc>
            </a:pPr>
            <a:r>
              <a:rPr lang="en-US" sz="5700">
                <a:solidFill>
                  <a:srgbClr val="000000"/>
                </a:solidFill>
                <a:latin typeface="Alatsi"/>
                <a:ea typeface="Alatsi"/>
                <a:cs typeface="Alatsi"/>
                <a:sym typeface="Alatsi"/>
              </a:rPr>
              <a:t>ENCODER-DECODER LSTM ARCHITECTURE</a:t>
            </a:r>
          </a:p>
        </p:txBody>
      </p:sp>
      <p:grpSp>
        <p:nvGrpSpPr>
          <p:cNvPr id="3" name="Group 3"/>
          <p:cNvGrpSpPr/>
          <p:nvPr/>
        </p:nvGrpSpPr>
        <p:grpSpPr>
          <a:xfrm>
            <a:off x="1564423" y="2084063"/>
            <a:ext cx="16275051" cy="7097488"/>
            <a:chOff x="0" y="0"/>
            <a:chExt cx="21700068" cy="9463317"/>
          </a:xfrm>
        </p:grpSpPr>
        <p:grpSp>
          <p:nvGrpSpPr>
            <p:cNvPr id="4" name="Group 4"/>
            <p:cNvGrpSpPr/>
            <p:nvPr/>
          </p:nvGrpSpPr>
          <p:grpSpPr>
            <a:xfrm>
              <a:off x="0" y="0"/>
              <a:ext cx="1545868" cy="154586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0" y="132095"/>
              <a:ext cx="1545868" cy="1176903"/>
            </a:xfrm>
            <a:prstGeom prst="rect">
              <a:avLst/>
            </a:prstGeom>
          </p:spPr>
          <p:txBody>
            <a:bodyPr lIns="0" tIns="0" rIns="0" bIns="0" rtlCol="0" anchor="t">
              <a:spAutoFit/>
            </a:bodyPr>
            <a:lstStyle/>
            <a:p>
              <a:pPr algn="ctr">
                <a:lnSpc>
                  <a:spcPts val="7392"/>
                </a:lnSpc>
              </a:pPr>
              <a:r>
                <a:rPr lang="en-US" sz="5280">
                  <a:solidFill>
                    <a:srgbClr val="000000"/>
                  </a:solidFill>
                  <a:latin typeface="Alatsi"/>
                  <a:ea typeface="Alatsi"/>
                  <a:cs typeface="Alatsi"/>
                  <a:sym typeface="Alatsi"/>
                </a:rPr>
                <a:t>1</a:t>
              </a:r>
            </a:p>
          </p:txBody>
        </p:sp>
        <p:grpSp>
          <p:nvGrpSpPr>
            <p:cNvPr id="8" name="Group 8"/>
            <p:cNvGrpSpPr/>
            <p:nvPr/>
          </p:nvGrpSpPr>
          <p:grpSpPr>
            <a:xfrm>
              <a:off x="0" y="2876093"/>
              <a:ext cx="1545868" cy="154586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3008188"/>
              <a:ext cx="1545868" cy="1176903"/>
            </a:xfrm>
            <a:prstGeom prst="rect">
              <a:avLst/>
            </a:prstGeom>
          </p:spPr>
          <p:txBody>
            <a:bodyPr lIns="0" tIns="0" rIns="0" bIns="0" rtlCol="0" anchor="t">
              <a:spAutoFit/>
            </a:bodyPr>
            <a:lstStyle/>
            <a:p>
              <a:pPr algn="ctr">
                <a:lnSpc>
                  <a:spcPts val="7392"/>
                </a:lnSpc>
              </a:pPr>
              <a:r>
                <a:rPr lang="en-US" sz="5280">
                  <a:solidFill>
                    <a:srgbClr val="000000"/>
                  </a:solidFill>
                  <a:latin typeface="Alatsi"/>
                  <a:ea typeface="Alatsi"/>
                  <a:cs typeface="Alatsi"/>
                  <a:sym typeface="Alatsi"/>
                </a:rPr>
                <a:t>2</a:t>
              </a:r>
            </a:p>
          </p:txBody>
        </p:sp>
        <p:grpSp>
          <p:nvGrpSpPr>
            <p:cNvPr id="12" name="Group 12"/>
            <p:cNvGrpSpPr/>
            <p:nvPr/>
          </p:nvGrpSpPr>
          <p:grpSpPr>
            <a:xfrm>
              <a:off x="0" y="5752186"/>
              <a:ext cx="1545868" cy="154586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0" y="5884281"/>
              <a:ext cx="1545868" cy="1176903"/>
            </a:xfrm>
            <a:prstGeom prst="rect">
              <a:avLst/>
            </a:prstGeom>
          </p:spPr>
          <p:txBody>
            <a:bodyPr lIns="0" tIns="0" rIns="0" bIns="0" rtlCol="0" anchor="t">
              <a:spAutoFit/>
            </a:bodyPr>
            <a:lstStyle/>
            <a:p>
              <a:pPr algn="ctr">
                <a:lnSpc>
                  <a:spcPts val="7392"/>
                </a:lnSpc>
              </a:pPr>
              <a:r>
                <a:rPr lang="en-US" sz="5280">
                  <a:solidFill>
                    <a:srgbClr val="000000"/>
                  </a:solidFill>
                  <a:latin typeface="Alatsi"/>
                  <a:ea typeface="Alatsi"/>
                  <a:cs typeface="Alatsi"/>
                  <a:sym typeface="Alatsi"/>
                </a:rPr>
                <a:t>3</a:t>
              </a:r>
            </a:p>
          </p:txBody>
        </p:sp>
        <p:sp>
          <p:nvSpPr>
            <p:cNvPr id="16" name="TextBox 16"/>
            <p:cNvSpPr txBox="1"/>
            <p:nvPr/>
          </p:nvSpPr>
          <p:spPr>
            <a:xfrm>
              <a:off x="1795381" y="-53422"/>
              <a:ext cx="19904687" cy="2549081"/>
            </a:xfrm>
            <a:prstGeom prst="rect">
              <a:avLst/>
            </a:prstGeom>
          </p:spPr>
          <p:txBody>
            <a:bodyPr lIns="0" tIns="0" rIns="0" bIns="0" rtlCol="0" anchor="t">
              <a:spAutoFit/>
            </a:bodyPr>
            <a:lstStyle/>
            <a:p>
              <a:pPr algn="l">
                <a:lnSpc>
                  <a:spcPts val="4534"/>
                </a:lnSpc>
              </a:pPr>
              <a:r>
                <a:rPr lang="en-US" sz="3238">
                  <a:solidFill>
                    <a:srgbClr val="000000"/>
                  </a:solidFill>
                  <a:latin typeface="Alatsi"/>
                  <a:ea typeface="Alatsi"/>
                  <a:cs typeface="Alatsi"/>
                  <a:sym typeface="Alatsi"/>
                </a:rPr>
                <a:t>Initialization: </a:t>
              </a:r>
            </a:p>
            <a:p>
              <a:pPr marL="561339" lvl="1" indent="-280669" algn="l">
                <a:lnSpc>
                  <a:spcPts val="3639"/>
                </a:lnSpc>
                <a:buFont typeface="Arial"/>
                <a:buChar char="•"/>
              </a:pPr>
              <a:r>
                <a:rPr lang="en-US" sz="2599">
                  <a:solidFill>
                    <a:srgbClr val="000000"/>
                  </a:solidFill>
                  <a:latin typeface="Alatsi"/>
                  <a:ea typeface="Alatsi"/>
                  <a:cs typeface="Alatsi"/>
                  <a:sym typeface="Alatsi"/>
                </a:rPr>
                <a:t>The Decoder is initialized with the context vector from the Encoder and the Decoder uses this context to begin generating the translation in the target language.</a:t>
              </a:r>
            </a:p>
            <a:p>
              <a:pPr algn="l">
                <a:lnSpc>
                  <a:spcPts val="3639"/>
                </a:lnSpc>
              </a:pPr>
              <a:endParaRPr lang="en-US" sz="2599">
                <a:solidFill>
                  <a:srgbClr val="000000"/>
                </a:solidFill>
                <a:latin typeface="Alatsi"/>
                <a:ea typeface="Alatsi"/>
                <a:cs typeface="Alatsi"/>
                <a:sym typeface="Alatsi"/>
              </a:endParaRPr>
            </a:p>
          </p:txBody>
        </p:sp>
        <p:sp>
          <p:nvSpPr>
            <p:cNvPr id="17" name="TextBox 17"/>
            <p:cNvSpPr txBox="1"/>
            <p:nvPr/>
          </p:nvSpPr>
          <p:spPr>
            <a:xfrm>
              <a:off x="1795381" y="2820807"/>
              <a:ext cx="19904687" cy="3158681"/>
            </a:xfrm>
            <a:prstGeom prst="rect">
              <a:avLst/>
            </a:prstGeom>
          </p:spPr>
          <p:txBody>
            <a:bodyPr lIns="0" tIns="0" rIns="0" bIns="0" rtlCol="0" anchor="t">
              <a:spAutoFit/>
            </a:bodyPr>
            <a:lstStyle/>
            <a:p>
              <a:pPr algn="l">
                <a:lnSpc>
                  <a:spcPts val="4534"/>
                </a:lnSpc>
              </a:pPr>
              <a:r>
                <a:rPr lang="en-US" sz="3238">
                  <a:solidFill>
                    <a:srgbClr val="000000"/>
                  </a:solidFill>
                  <a:latin typeface="Alatsi"/>
                  <a:ea typeface="Alatsi"/>
                  <a:cs typeface="Alatsi"/>
                  <a:sym typeface="Alatsi"/>
                </a:rPr>
                <a:t>Output Sequence: </a:t>
              </a:r>
            </a:p>
            <a:p>
              <a:pPr marL="561339" lvl="1" indent="-280669" algn="l">
                <a:lnSpc>
                  <a:spcPts val="3639"/>
                </a:lnSpc>
                <a:buFont typeface="Arial"/>
                <a:buChar char="•"/>
              </a:pPr>
              <a:r>
                <a:rPr lang="en-US" sz="2599">
                  <a:solidFill>
                    <a:srgbClr val="000000"/>
                  </a:solidFill>
                  <a:latin typeface="Alatsi"/>
                  <a:ea typeface="Alatsi"/>
                  <a:cs typeface="Alatsi"/>
                  <a:sym typeface="Alatsi"/>
                </a:rPr>
                <a:t>The sequence of word embeddings is fed through one or more layers of LSTM units.</a:t>
              </a:r>
            </a:p>
            <a:p>
              <a:pPr marL="561339" lvl="1" indent="-280669" algn="l">
                <a:lnSpc>
                  <a:spcPts val="3639"/>
                </a:lnSpc>
                <a:buFont typeface="Arial"/>
                <a:buChar char="•"/>
              </a:pPr>
              <a:r>
                <a:rPr lang="en-US" sz="2599">
                  <a:solidFill>
                    <a:srgbClr val="000000"/>
                  </a:solidFill>
                  <a:latin typeface="Alatsi"/>
                  <a:ea typeface="Alatsi"/>
                  <a:cs typeface="Alatsi"/>
                  <a:sym typeface="Alatsi"/>
                </a:rPr>
                <a:t>The Decoder generates each target word step-by-step, using its previous hidden states and the last predicted word to progressively build the sequence. During training, teacher forcing is applied.</a:t>
              </a:r>
            </a:p>
            <a:p>
              <a:pPr algn="l">
                <a:lnSpc>
                  <a:spcPts val="3639"/>
                </a:lnSpc>
              </a:pPr>
              <a:endParaRPr lang="en-US" sz="2599">
                <a:solidFill>
                  <a:srgbClr val="000000"/>
                </a:solidFill>
                <a:latin typeface="Alatsi"/>
                <a:ea typeface="Alatsi"/>
                <a:cs typeface="Alatsi"/>
                <a:sym typeface="Alatsi"/>
              </a:endParaRPr>
            </a:p>
          </p:txBody>
        </p:sp>
        <p:sp>
          <p:nvSpPr>
            <p:cNvPr id="18" name="TextBox 18"/>
            <p:cNvSpPr txBox="1"/>
            <p:nvPr/>
          </p:nvSpPr>
          <p:spPr>
            <a:xfrm>
              <a:off x="1795381" y="5695036"/>
              <a:ext cx="19904687" cy="3768281"/>
            </a:xfrm>
            <a:prstGeom prst="rect">
              <a:avLst/>
            </a:prstGeom>
          </p:spPr>
          <p:txBody>
            <a:bodyPr lIns="0" tIns="0" rIns="0" bIns="0" rtlCol="0" anchor="t">
              <a:spAutoFit/>
            </a:bodyPr>
            <a:lstStyle/>
            <a:p>
              <a:pPr algn="l">
                <a:lnSpc>
                  <a:spcPts val="4534"/>
                </a:lnSpc>
              </a:pPr>
              <a:r>
                <a:rPr lang="en-US" sz="3238">
                  <a:solidFill>
                    <a:srgbClr val="000000"/>
                  </a:solidFill>
                  <a:latin typeface="Alatsi"/>
                  <a:ea typeface="Alatsi"/>
                  <a:cs typeface="Alatsi"/>
                  <a:sym typeface="Alatsi"/>
                </a:rPr>
                <a:t>Output Layer and Prediction: </a:t>
              </a:r>
            </a:p>
            <a:p>
              <a:pPr marL="561339" lvl="1" indent="-280669" algn="l">
                <a:lnSpc>
                  <a:spcPts val="3639"/>
                </a:lnSpc>
                <a:buFont typeface="Arial"/>
                <a:buChar char="•"/>
              </a:pPr>
              <a:r>
                <a:rPr lang="en-US" sz="2599">
                  <a:solidFill>
                    <a:srgbClr val="000000"/>
                  </a:solidFill>
                  <a:latin typeface="Alatsi"/>
                  <a:ea typeface="Alatsi"/>
                  <a:cs typeface="Alatsi"/>
                  <a:sym typeface="Alatsi"/>
                </a:rPr>
                <a:t>Decoder’s hidden state is passed through a fully connected layer followed by a softmax layer, producing a probability distribution over the vocabulary.</a:t>
              </a:r>
            </a:p>
            <a:p>
              <a:pPr marL="561339" lvl="1" indent="-280669" algn="l">
                <a:lnSpc>
                  <a:spcPts val="3639"/>
                </a:lnSpc>
                <a:buFont typeface="Arial"/>
                <a:buChar char="•"/>
              </a:pPr>
              <a:r>
                <a:rPr lang="en-US" sz="2599">
                  <a:solidFill>
                    <a:srgbClr val="000000"/>
                  </a:solidFill>
                  <a:latin typeface="Alatsi"/>
                  <a:ea typeface="Alatsi"/>
                  <a:cs typeface="Alatsi"/>
                  <a:sym typeface="Alatsi"/>
                </a:rPr>
                <a:t>The Decoder continues generating words until it predicts a special end-of-sequence (EOS) token, signaling that the translation is complete.</a:t>
              </a:r>
            </a:p>
            <a:p>
              <a:pPr algn="l">
                <a:lnSpc>
                  <a:spcPts val="3639"/>
                </a:lnSpc>
              </a:pPr>
              <a:endParaRPr lang="en-US" sz="2599">
                <a:solidFill>
                  <a:srgbClr val="000000"/>
                </a:solidFill>
                <a:latin typeface="Alatsi"/>
                <a:ea typeface="Alatsi"/>
                <a:cs typeface="Alatsi"/>
                <a:sym typeface="Alatsi"/>
              </a:endParaRPr>
            </a:p>
          </p:txBody>
        </p:sp>
      </p:grpSp>
      <p:grpSp>
        <p:nvGrpSpPr>
          <p:cNvPr id="19" name="Group 19"/>
          <p:cNvGrpSpPr/>
          <p:nvPr/>
        </p:nvGrpSpPr>
        <p:grpSpPr>
          <a:xfrm>
            <a:off x="627362" y="0"/>
            <a:ext cx="937061" cy="10287000"/>
            <a:chOff x="0" y="0"/>
            <a:chExt cx="246798" cy="2709333"/>
          </a:xfrm>
        </p:grpSpPr>
        <p:sp>
          <p:nvSpPr>
            <p:cNvPr id="20" name="Freeform 20"/>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21" name="TextBox 21"/>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22" name="AutoShape 22"/>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23" name="AutoShape 23"/>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24" name="Group 24"/>
          <p:cNvGrpSpPr/>
          <p:nvPr/>
        </p:nvGrpSpPr>
        <p:grpSpPr>
          <a:xfrm>
            <a:off x="15859155" y="0"/>
            <a:ext cx="1562612" cy="1673225"/>
            <a:chOff x="0" y="0"/>
            <a:chExt cx="2083482" cy="2230967"/>
          </a:xfrm>
        </p:grpSpPr>
        <p:grpSp>
          <p:nvGrpSpPr>
            <p:cNvPr id="25" name="Group 25"/>
            <p:cNvGrpSpPr/>
            <p:nvPr/>
          </p:nvGrpSpPr>
          <p:grpSpPr>
            <a:xfrm>
              <a:off x="75599" y="0"/>
              <a:ext cx="1932284" cy="2230967"/>
              <a:chOff x="0" y="0"/>
              <a:chExt cx="703982" cy="812800"/>
            </a:xfrm>
          </p:grpSpPr>
          <p:sp>
            <p:nvSpPr>
              <p:cNvPr id="26" name="Freeform 26"/>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27" name="TextBox 27"/>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5</a:t>
              </a:r>
            </a:p>
          </p:txBody>
        </p:sp>
      </p:grpSp>
      <p:sp>
        <p:nvSpPr>
          <p:cNvPr id="29" name="Freeform 29"/>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0" name="Freeform 30"/>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918390" y="866775"/>
            <a:ext cx="1045121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LSTM</a:t>
            </a:r>
          </a:p>
        </p:txBody>
      </p:sp>
      <p:grpSp>
        <p:nvGrpSpPr>
          <p:cNvPr id="3" name="Group 3"/>
          <p:cNvGrpSpPr/>
          <p:nvPr/>
        </p:nvGrpSpPr>
        <p:grpSpPr>
          <a:xfrm>
            <a:off x="9673194" y="3268672"/>
            <a:ext cx="8045652" cy="1406187"/>
            <a:chOff x="0" y="0"/>
            <a:chExt cx="10727536" cy="1874916"/>
          </a:xfrm>
        </p:grpSpPr>
        <p:grpSp>
          <p:nvGrpSpPr>
            <p:cNvPr id="4" name="Group 4"/>
            <p:cNvGrpSpPr/>
            <p:nvPr/>
          </p:nvGrpSpPr>
          <p:grpSpPr>
            <a:xfrm>
              <a:off x="0" y="0"/>
              <a:ext cx="10727536" cy="1874916"/>
              <a:chOff x="0" y="0"/>
              <a:chExt cx="2119019" cy="370354"/>
            </a:xfrm>
          </p:grpSpPr>
          <p:sp>
            <p:nvSpPr>
              <p:cNvPr id="5" name="Freeform 5"/>
              <p:cNvSpPr/>
              <p:nvPr/>
            </p:nvSpPr>
            <p:spPr>
              <a:xfrm>
                <a:off x="0" y="0"/>
                <a:ext cx="2119019" cy="370354"/>
              </a:xfrm>
              <a:custGeom>
                <a:avLst/>
                <a:gdLst/>
                <a:ahLst/>
                <a:cxnLst/>
                <a:rect l="l" t="t" r="r" b="b"/>
                <a:pathLst>
                  <a:path w="2119019" h="370354">
                    <a:moveTo>
                      <a:pt x="49075" y="0"/>
                    </a:moveTo>
                    <a:lnTo>
                      <a:pt x="2069945" y="0"/>
                    </a:lnTo>
                    <a:cubicBezTo>
                      <a:pt x="2097048" y="0"/>
                      <a:pt x="2119019" y="21971"/>
                      <a:pt x="2119019" y="49075"/>
                    </a:cubicBezTo>
                    <a:lnTo>
                      <a:pt x="2119019" y="321279"/>
                    </a:lnTo>
                    <a:cubicBezTo>
                      <a:pt x="2119019" y="348382"/>
                      <a:pt x="2097048" y="370354"/>
                      <a:pt x="2069945" y="370354"/>
                    </a:cubicBezTo>
                    <a:lnTo>
                      <a:pt x="49075" y="370354"/>
                    </a:lnTo>
                    <a:cubicBezTo>
                      <a:pt x="21971" y="370354"/>
                      <a:pt x="0" y="348382"/>
                      <a:pt x="0" y="321279"/>
                    </a:cubicBezTo>
                    <a:lnTo>
                      <a:pt x="0" y="49075"/>
                    </a:lnTo>
                    <a:cubicBezTo>
                      <a:pt x="0" y="21971"/>
                      <a:pt x="21971" y="0"/>
                      <a:pt x="49075" y="0"/>
                    </a:cubicBezTo>
                    <a:close/>
                  </a:path>
                </a:pathLst>
              </a:custGeom>
              <a:solidFill>
                <a:srgbClr val="E9C7C6"/>
              </a:solidFill>
            </p:spPr>
          </p:sp>
          <p:sp>
            <p:nvSpPr>
              <p:cNvPr id="6" name="TextBox 6"/>
              <p:cNvSpPr txBox="1"/>
              <p:nvPr/>
            </p:nvSpPr>
            <p:spPr>
              <a:xfrm>
                <a:off x="0" y="-38100"/>
                <a:ext cx="2119019" cy="40845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841398" y="133350"/>
              <a:ext cx="9356821" cy="1368589"/>
            </a:xfrm>
            <a:prstGeom prst="rect">
              <a:avLst/>
            </a:prstGeom>
          </p:spPr>
          <p:txBody>
            <a:bodyPr lIns="0" tIns="0" rIns="0" bIns="0" rtlCol="0" anchor="t">
              <a:spAutoFit/>
            </a:bodyPr>
            <a:lstStyle/>
            <a:p>
              <a:pPr algn="l">
                <a:lnSpc>
                  <a:spcPts val="4193"/>
                </a:lnSpc>
              </a:pPr>
              <a:r>
                <a:rPr lang="en-US" sz="2995">
                  <a:solidFill>
                    <a:srgbClr val="000000"/>
                  </a:solidFill>
                  <a:latin typeface="Alatsi"/>
                  <a:ea typeface="Alatsi"/>
                  <a:cs typeface="Alatsi"/>
                  <a:sym typeface="Alatsi"/>
                </a:rPr>
                <a:t>LSTMs mitigate the vanishing gradient problem</a:t>
              </a:r>
            </a:p>
          </p:txBody>
        </p:sp>
      </p:grpSp>
      <p:sp>
        <p:nvSpPr>
          <p:cNvPr id="8" name="TextBox 8"/>
          <p:cNvSpPr txBox="1"/>
          <p:nvPr/>
        </p:nvSpPr>
        <p:spPr>
          <a:xfrm>
            <a:off x="9550637" y="2620338"/>
            <a:ext cx="8168209" cy="670833"/>
          </a:xfrm>
          <a:prstGeom prst="rect">
            <a:avLst/>
          </a:prstGeom>
        </p:spPr>
        <p:txBody>
          <a:bodyPr lIns="0" tIns="0" rIns="0" bIns="0" rtlCol="0" anchor="t">
            <a:spAutoFit/>
          </a:bodyPr>
          <a:lstStyle/>
          <a:p>
            <a:pPr algn="l">
              <a:lnSpc>
                <a:spcPts val="5487"/>
              </a:lnSpc>
            </a:pPr>
            <a:r>
              <a:rPr lang="en-US" sz="3919">
                <a:solidFill>
                  <a:srgbClr val="000000"/>
                </a:solidFill>
                <a:latin typeface="Alatsi"/>
                <a:ea typeface="Alatsi"/>
                <a:cs typeface="Alatsi"/>
                <a:sym typeface="Alatsi"/>
              </a:rPr>
              <a:t>Long-Term Dependency Management</a:t>
            </a:r>
          </a:p>
        </p:txBody>
      </p:sp>
      <p:sp>
        <p:nvSpPr>
          <p:cNvPr id="9" name="TextBox 9"/>
          <p:cNvSpPr txBox="1"/>
          <p:nvPr/>
        </p:nvSpPr>
        <p:spPr>
          <a:xfrm>
            <a:off x="2452253" y="2883406"/>
            <a:ext cx="6691747" cy="5848350"/>
          </a:xfrm>
          <a:prstGeom prst="rect">
            <a:avLst/>
          </a:prstGeom>
        </p:spPr>
        <p:txBody>
          <a:bodyPr lIns="0" tIns="0" rIns="0" bIns="0" rtlCol="0" anchor="t">
            <a:spAutoFit/>
          </a:bodyPr>
          <a:lstStyle/>
          <a:p>
            <a:pPr algn="l">
              <a:lnSpc>
                <a:spcPts val="4200"/>
              </a:lnSpc>
            </a:pPr>
            <a:r>
              <a:rPr lang="en-US" sz="3000" dirty="0">
                <a:solidFill>
                  <a:srgbClr val="000000"/>
                </a:solidFill>
                <a:latin typeface="Alatsi"/>
                <a:ea typeface="Alatsi"/>
                <a:cs typeface="Alatsi"/>
                <a:sym typeface="Alatsi"/>
              </a:rPr>
              <a:t>LSTM (Long Short-Term Memory) is a type of recurrent neural network (RNN) architecture designed to capture long-term dependencies in sequential data. Unlike standard RNNs, LSTMs use specialized memory cells with gates (input, forget, and output gates) to control the flow of information, allowing them to retain or discard information over long sequences effectively.</a:t>
            </a:r>
          </a:p>
          <a:p>
            <a:pPr algn="l">
              <a:lnSpc>
                <a:spcPts val="4200"/>
              </a:lnSpc>
            </a:pPr>
            <a:endParaRPr lang="en-US" sz="3000" dirty="0">
              <a:solidFill>
                <a:srgbClr val="000000"/>
              </a:solidFill>
              <a:latin typeface="Alatsi"/>
              <a:ea typeface="Alatsi"/>
              <a:cs typeface="Alatsi"/>
              <a:sym typeface="Alatsi"/>
            </a:endParaRPr>
          </a:p>
        </p:txBody>
      </p:sp>
      <p:grpSp>
        <p:nvGrpSpPr>
          <p:cNvPr id="10" name="Group 10"/>
          <p:cNvGrpSpPr/>
          <p:nvPr/>
        </p:nvGrpSpPr>
        <p:grpSpPr>
          <a:xfrm>
            <a:off x="9673194" y="5755266"/>
            <a:ext cx="6651535" cy="1406187"/>
            <a:chOff x="0" y="0"/>
            <a:chExt cx="8868713" cy="1874916"/>
          </a:xfrm>
        </p:grpSpPr>
        <p:grpSp>
          <p:nvGrpSpPr>
            <p:cNvPr id="11" name="Group 11"/>
            <p:cNvGrpSpPr/>
            <p:nvPr/>
          </p:nvGrpSpPr>
          <p:grpSpPr>
            <a:xfrm>
              <a:off x="0" y="0"/>
              <a:ext cx="8868713" cy="1874916"/>
              <a:chOff x="0" y="0"/>
              <a:chExt cx="1751844" cy="370354"/>
            </a:xfrm>
          </p:grpSpPr>
          <p:sp>
            <p:nvSpPr>
              <p:cNvPr id="12" name="Freeform 12"/>
              <p:cNvSpPr/>
              <p:nvPr/>
            </p:nvSpPr>
            <p:spPr>
              <a:xfrm>
                <a:off x="0" y="0"/>
                <a:ext cx="1751844" cy="370354"/>
              </a:xfrm>
              <a:custGeom>
                <a:avLst/>
                <a:gdLst/>
                <a:ahLst/>
                <a:cxnLst/>
                <a:rect l="l" t="t" r="r" b="b"/>
                <a:pathLst>
                  <a:path w="1751844" h="370354">
                    <a:moveTo>
                      <a:pt x="59360" y="0"/>
                    </a:moveTo>
                    <a:lnTo>
                      <a:pt x="1692484" y="0"/>
                    </a:lnTo>
                    <a:cubicBezTo>
                      <a:pt x="1725268" y="0"/>
                      <a:pt x="1751844" y="26577"/>
                      <a:pt x="1751844" y="59360"/>
                    </a:cubicBezTo>
                    <a:lnTo>
                      <a:pt x="1751844" y="310993"/>
                    </a:lnTo>
                    <a:cubicBezTo>
                      <a:pt x="1751844" y="326737"/>
                      <a:pt x="1745590" y="341835"/>
                      <a:pt x="1734458" y="352967"/>
                    </a:cubicBezTo>
                    <a:cubicBezTo>
                      <a:pt x="1723326" y="364100"/>
                      <a:pt x="1708227" y="370354"/>
                      <a:pt x="1692484" y="370354"/>
                    </a:cubicBezTo>
                    <a:lnTo>
                      <a:pt x="59360" y="370354"/>
                    </a:lnTo>
                    <a:cubicBezTo>
                      <a:pt x="26577" y="370354"/>
                      <a:pt x="0" y="343777"/>
                      <a:pt x="0" y="310993"/>
                    </a:cubicBezTo>
                    <a:lnTo>
                      <a:pt x="0" y="59360"/>
                    </a:lnTo>
                    <a:cubicBezTo>
                      <a:pt x="0" y="26577"/>
                      <a:pt x="26577" y="0"/>
                      <a:pt x="59360" y="0"/>
                    </a:cubicBezTo>
                    <a:close/>
                  </a:path>
                </a:pathLst>
              </a:custGeom>
              <a:solidFill>
                <a:srgbClr val="E9C7C6"/>
              </a:solidFill>
            </p:spPr>
          </p:sp>
          <p:sp>
            <p:nvSpPr>
              <p:cNvPr id="13" name="TextBox 13"/>
              <p:cNvSpPr txBox="1"/>
              <p:nvPr/>
            </p:nvSpPr>
            <p:spPr>
              <a:xfrm>
                <a:off x="0" y="-38100"/>
                <a:ext cx="1751844" cy="408454"/>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695604" y="133350"/>
              <a:ext cx="7735510" cy="1368589"/>
            </a:xfrm>
            <a:prstGeom prst="rect">
              <a:avLst/>
            </a:prstGeom>
          </p:spPr>
          <p:txBody>
            <a:bodyPr lIns="0" tIns="0" rIns="0" bIns="0" rtlCol="0" anchor="t">
              <a:spAutoFit/>
            </a:bodyPr>
            <a:lstStyle/>
            <a:p>
              <a:pPr algn="l">
                <a:lnSpc>
                  <a:spcPts val="4193"/>
                </a:lnSpc>
              </a:pPr>
              <a:r>
                <a:rPr lang="en-US" sz="2995" dirty="0">
                  <a:solidFill>
                    <a:srgbClr val="000000"/>
                  </a:solidFill>
                  <a:latin typeface="Alatsi"/>
                  <a:ea typeface="Alatsi"/>
                  <a:cs typeface="Alatsi"/>
                  <a:sym typeface="Alatsi"/>
                </a:rPr>
                <a:t>Helps capture relevant details in complex sentences</a:t>
              </a:r>
            </a:p>
          </p:txBody>
        </p:sp>
      </p:grpSp>
      <p:sp>
        <p:nvSpPr>
          <p:cNvPr id="15" name="TextBox 15"/>
          <p:cNvSpPr txBox="1"/>
          <p:nvPr/>
        </p:nvSpPr>
        <p:spPr>
          <a:xfrm>
            <a:off x="9550637" y="4979659"/>
            <a:ext cx="6308519" cy="670833"/>
          </a:xfrm>
          <a:prstGeom prst="rect">
            <a:avLst/>
          </a:prstGeom>
        </p:spPr>
        <p:txBody>
          <a:bodyPr lIns="0" tIns="0" rIns="0" bIns="0" rtlCol="0" anchor="t">
            <a:spAutoFit/>
          </a:bodyPr>
          <a:lstStyle/>
          <a:p>
            <a:pPr algn="l">
              <a:lnSpc>
                <a:spcPts val="5487"/>
              </a:lnSpc>
            </a:pPr>
            <a:r>
              <a:rPr lang="en-US" sz="3919">
                <a:solidFill>
                  <a:srgbClr val="000000"/>
                </a:solidFill>
                <a:latin typeface="Alatsi"/>
                <a:ea typeface="Alatsi"/>
                <a:cs typeface="Alatsi"/>
                <a:sym typeface="Alatsi"/>
              </a:rPr>
              <a:t>Controlled Information Flow</a:t>
            </a:r>
          </a:p>
        </p:txBody>
      </p:sp>
      <p:sp>
        <p:nvSpPr>
          <p:cNvPr id="16" name="AutoShape 16"/>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sp>
        <p:nvSpPr>
          <p:cNvPr id="17" name="AutoShape 1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grpSp>
        <p:nvGrpSpPr>
          <p:cNvPr id="18" name="Group 18"/>
          <p:cNvGrpSpPr/>
          <p:nvPr/>
        </p:nvGrpSpPr>
        <p:grpSpPr>
          <a:xfrm>
            <a:off x="15859155" y="0"/>
            <a:ext cx="1562612" cy="1673225"/>
            <a:chOff x="0" y="0"/>
            <a:chExt cx="2083482" cy="2230967"/>
          </a:xfrm>
        </p:grpSpPr>
        <p:grpSp>
          <p:nvGrpSpPr>
            <p:cNvPr id="19" name="Group 19"/>
            <p:cNvGrpSpPr/>
            <p:nvPr/>
          </p:nvGrpSpPr>
          <p:grpSpPr>
            <a:xfrm>
              <a:off x="75599" y="0"/>
              <a:ext cx="1932284" cy="2230967"/>
              <a:chOff x="0" y="0"/>
              <a:chExt cx="703982" cy="812800"/>
            </a:xfrm>
          </p:grpSpPr>
          <p:sp>
            <p:nvSpPr>
              <p:cNvPr id="20" name="Freeform 2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21" name="TextBox 21"/>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6</a:t>
              </a:r>
            </a:p>
          </p:txBody>
        </p:sp>
      </p:grpSp>
      <p:sp>
        <p:nvSpPr>
          <p:cNvPr id="23" name="Freeform 23"/>
          <p:cNvSpPr/>
          <p:nvPr/>
        </p:nvSpPr>
        <p:spPr>
          <a:xfrm>
            <a:off x="7512165" y="-1553858"/>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892058" y="9048108"/>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5" name="Group 25"/>
          <p:cNvGrpSpPr/>
          <p:nvPr/>
        </p:nvGrpSpPr>
        <p:grpSpPr>
          <a:xfrm>
            <a:off x="9795751" y="8231164"/>
            <a:ext cx="6651535" cy="1406187"/>
            <a:chOff x="0" y="0"/>
            <a:chExt cx="8868713" cy="1874916"/>
          </a:xfrm>
        </p:grpSpPr>
        <p:grpSp>
          <p:nvGrpSpPr>
            <p:cNvPr id="26" name="Group 26"/>
            <p:cNvGrpSpPr/>
            <p:nvPr/>
          </p:nvGrpSpPr>
          <p:grpSpPr>
            <a:xfrm>
              <a:off x="0" y="0"/>
              <a:ext cx="8868713" cy="1874916"/>
              <a:chOff x="0" y="0"/>
              <a:chExt cx="1751844" cy="370354"/>
            </a:xfrm>
          </p:grpSpPr>
          <p:sp>
            <p:nvSpPr>
              <p:cNvPr id="27" name="Freeform 27"/>
              <p:cNvSpPr/>
              <p:nvPr/>
            </p:nvSpPr>
            <p:spPr>
              <a:xfrm>
                <a:off x="0" y="0"/>
                <a:ext cx="1751844" cy="370354"/>
              </a:xfrm>
              <a:custGeom>
                <a:avLst/>
                <a:gdLst/>
                <a:ahLst/>
                <a:cxnLst/>
                <a:rect l="l" t="t" r="r" b="b"/>
                <a:pathLst>
                  <a:path w="1751844" h="370354">
                    <a:moveTo>
                      <a:pt x="59360" y="0"/>
                    </a:moveTo>
                    <a:lnTo>
                      <a:pt x="1692484" y="0"/>
                    </a:lnTo>
                    <a:cubicBezTo>
                      <a:pt x="1725268" y="0"/>
                      <a:pt x="1751844" y="26577"/>
                      <a:pt x="1751844" y="59360"/>
                    </a:cubicBezTo>
                    <a:lnTo>
                      <a:pt x="1751844" y="310993"/>
                    </a:lnTo>
                    <a:cubicBezTo>
                      <a:pt x="1751844" y="326737"/>
                      <a:pt x="1745590" y="341835"/>
                      <a:pt x="1734458" y="352967"/>
                    </a:cubicBezTo>
                    <a:cubicBezTo>
                      <a:pt x="1723326" y="364100"/>
                      <a:pt x="1708227" y="370354"/>
                      <a:pt x="1692484" y="370354"/>
                    </a:cubicBezTo>
                    <a:lnTo>
                      <a:pt x="59360" y="370354"/>
                    </a:lnTo>
                    <a:cubicBezTo>
                      <a:pt x="26577" y="370354"/>
                      <a:pt x="0" y="343777"/>
                      <a:pt x="0" y="310993"/>
                    </a:cubicBezTo>
                    <a:lnTo>
                      <a:pt x="0" y="59360"/>
                    </a:lnTo>
                    <a:cubicBezTo>
                      <a:pt x="0" y="26577"/>
                      <a:pt x="26577" y="0"/>
                      <a:pt x="59360" y="0"/>
                    </a:cubicBezTo>
                    <a:close/>
                  </a:path>
                </a:pathLst>
              </a:custGeom>
              <a:solidFill>
                <a:srgbClr val="E9C7C6"/>
              </a:solidFill>
            </p:spPr>
          </p:sp>
          <p:sp>
            <p:nvSpPr>
              <p:cNvPr id="28" name="TextBox 28"/>
              <p:cNvSpPr txBox="1"/>
              <p:nvPr/>
            </p:nvSpPr>
            <p:spPr>
              <a:xfrm>
                <a:off x="0" y="-38100"/>
                <a:ext cx="1751844" cy="408454"/>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695604" y="133350"/>
              <a:ext cx="7735510" cy="1368589"/>
            </a:xfrm>
            <a:prstGeom prst="rect">
              <a:avLst/>
            </a:prstGeom>
          </p:spPr>
          <p:txBody>
            <a:bodyPr lIns="0" tIns="0" rIns="0" bIns="0" rtlCol="0" anchor="t">
              <a:spAutoFit/>
            </a:bodyPr>
            <a:lstStyle/>
            <a:p>
              <a:pPr algn="l">
                <a:lnSpc>
                  <a:spcPts val="4193"/>
                </a:lnSpc>
              </a:pPr>
              <a:r>
                <a:rPr lang="en-US" sz="2995">
                  <a:solidFill>
                    <a:srgbClr val="000000"/>
                  </a:solidFill>
                  <a:latin typeface="Alatsi"/>
                  <a:ea typeface="Alatsi"/>
                  <a:cs typeface="Alatsi"/>
                  <a:sym typeface="Alatsi"/>
                </a:rPr>
                <a:t>Ideal for sequence-to-sequence tasks</a:t>
              </a:r>
            </a:p>
          </p:txBody>
        </p:sp>
      </p:grpSp>
      <p:sp>
        <p:nvSpPr>
          <p:cNvPr id="30" name="TextBox 30"/>
          <p:cNvSpPr txBox="1"/>
          <p:nvPr/>
        </p:nvSpPr>
        <p:spPr>
          <a:xfrm>
            <a:off x="9673194" y="7455557"/>
            <a:ext cx="7748573" cy="670833"/>
          </a:xfrm>
          <a:prstGeom prst="rect">
            <a:avLst/>
          </a:prstGeom>
        </p:spPr>
        <p:txBody>
          <a:bodyPr lIns="0" tIns="0" rIns="0" bIns="0" rtlCol="0" anchor="t">
            <a:spAutoFit/>
          </a:bodyPr>
          <a:lstStyle/>
          <a:p>
            <a:pPr algn="l">
              <a:lnSpc>
                <a:spcPts val="5487"/>
              </a:lnSpc>
            </a:pPr>
            <a:r>
              <a:rPr lang="en-US" sz="3919">
                <a:solidFill>
                  <a:srgbClr val="000000"/>
                </a:solidFill>
                <a:latin typeface="Alatsi"/>
                <a:ea typeface="Alatsi"/>
                <a:cs typeface="Alatsi"/>
                <a:sym typeface="Alatsi"/>
              </a:rPr>
              <a:t>Sequential Structure Handling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923925"/>
            <a:ext cx="16230600" cy="969638"/>
          </a:xfrm>
          <a:prstGeom prst="rect">
            <a:avLst/>
          </a:prstGeom>
        </p:spPr>
        <p:txBody>
          <a:bodyPr lIns="0" tIns="0" rIns="0" bIns="0" rtlCol="0" anchor="t">
            <a:spAutoFit/>
          </a:bodyPr>
          <a:lstStyle/>
          <a:p>
            <a:pPr algn="ctr">
              <a:lnSpc>
                <a:spcPts val="7980"/>
              </a:lnSpc>
            </a:pPr>
            <a:r>
              <a:rPr lang="en-US" sz="5700" dirty="0">
                <a:solidFill>
                  <a:srgbClr val="000000"/>
                </a:solidFill>
                <a:latin typeface="Alatsi"/>
                <a:ea typeface="Alatsi"/>
                <a:cs typeface="Alatsi"/>
                <a:sym typeface="Alatsi"/>
              </a:rPr>
              <a:t>DATA PREPARATION</a:t>
            </a:r>
          </a:p>
        </p:txBody>
      </p:sp>
      <p:grpSp>
        <p:nvGrpSpPr>
          <p:cNvPr id="3" name="Group 3"/>
          <p:cNvGrpSpPr/>
          <p:nvPr/>
        </p:nvGrpSpPr>
        <p:grpSpPr>
          <a:xfrm>
            <a:off x="1564423" y="2249322"/>
            <a:ext cx="16275051" cy="6183088"/>
            <a:chOff x="0" y="0"/>
            <a:chExt cx="21700068" cy="8244117"/>
          </a:xfrm>
        </p:grpSpPr>
        <p:grpSp>
          <p:nvGrpSpPr>
            <p:cNvPr id="4" name="Group 4"/>
            <p:cNvGrpSpPr/>
            <p:nvPr/>
          </p:nvGrpSpPr>
          <p:grpSpPr>
            <a:xfrm>
              <a:off x="0" y="0"/>
              <a:ext cx="1545868" cy="154586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0" y="132095"/>
              <a:ext cx="1545868" cy="1176903"/>
            </a:xfrm>
            <a:prstGeom prst="rect">
              <a:avLst/>
            </a:prstGeom>
          </p:spPr>
          <p:txBody>
            <a:bodyPr lIns="0" tIns="0" rIns="0" bIns="0" rtlCol="0" anchor="t">
              <a:spAutoFit/>
            </a:bodyPr>
            <a:lstStyle/>
            <a:p>
              <a:pPr algn="ctr">
                <a:lnSpc>
                  <a:spcPts val="7392"/>
                </a:lnSpc>
              </a:pPr>
              <a:r>
                <a:rPr lang="en-US" sz="5280">
                  <a:solidFill>
                    <a:srgbClr val="000000"/>
                  </a:solidFill>
                  <a:latin typeface="Alatsi"/>
                  <a:ea typeface="Alatsi"/>
                  <a:cs typeface="Alatsi"/>
                  <a:sym typeface="Alatsi"/>
                </a:rPr>
                <a:t>1</a:t>
              </a:r>
            </a:p>
          </p:txBody>
        </p:sp>
        <p:grpSp>
          <p:nvGrpSpPr>
            <p:cNvPr id="8" name="Group 8"/>
            <p:cNvGrpSpPr/>
            <p:nvPr/>
          </p:nvGrpSpPr>
          <p:grpSpPr>
            <a:xfrm>
              <a:off x="0" y="2876093"/>
              <a:ext cx="1545868" cy="154586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3008188"/>
              <a:ext cx="1545868" cy="1176903"/>
            </a:xfrm>
            <a:prstGeom prst="rect">
              <a:avLst/>
            </a:prstGeom>
          </p:spPr>
          <p:txBody>
            <a:bodyPr lIns="0" tIns="0" rIns="0" bIns="0" rtlCol="0" anchor="t">
              <a:spAutoFit/>
            </a:bodyPr>
            <a:lstStyle/>
            <a:p>
              <a:pPr algn="ctr">
                <a:lnSpc>
                  <a:spcPts val="7392"/>
                </a:lnSpc>
              </a:pPr>
              <a:r>
                <a:rPr lang="en-US" sz="5280">
                  <a:solidFill>
                    <a:srgbClr val="000000"/>
                  </a:solidFill>
                  <a:latin typeface="Alatsi"/>
                  <a:ea typeface="Alatsi"/>
                  <a:cs typeface="Alatsi"/>
                  <a:sym typeface="Alatsi"/>
                </a:rPr>
                <a:t>2</a:t>
              </a:r>
            </a:p>
          </p:txBody>
        </p:sp>
        <p:grpSp>
          <p:nvGrpSpPr>
            <p:cNvPr id="12" name="Group 12"/>
            <p:cNvGrpSpPr/>
            <p:nvPr/>
          </p:nvGrpSpPr>
          <p:grpSpPr>
            <a:xfrm>
              <a:off x="0" y="5752186"/>
              <a:ext cx="1545868" cy="154586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0" y="5884281"/>
              <a:ext cx="1545868" cy="1176903"/>
            </a:xfrm>
            <a:prstGeom prst="rect">
              <a:avLst/>
            </a:prstGeom>
          </p:spPr>
          <p:txBody>
            <a:bodyPr lIns="0" tIns="0" rIns="0" bIns="0" rtlCol="0" anchor="t">
              <a:spAutoFit/>
            </a:bodyPr>
            <a:lstStyle/>
            <a:p>
              <a:pPr algn="ctr">
                <a:lnSpc>
                  <a:spcPts val="7392"/>
                </a:lnSpc>
              </a:pPr>
              <a:r>
                <a:rPr lang="en-US" sz="5280">
                  <a:solidFill>
                    <a:srgbClr val="000000"/>
                  </a:solidFill>
                  <a:latin typeface="Alatsi"/>
                  <a:ea typeface="Alatsi"/>
                  <a:cs typeface="Alatsi"/>
                  <a:sym typeface="Alatsi"/>
                </a:rPr>
                <a:t>3</a:t>
              </a:r>
            </a:p>
          </p:txBody>
        </p:sp>
        <p:sp>
          <p:nvSpPr>
            <p:cNvPr id="16" name="TextBox 16"/>
            <p:cNvSpPr txBox="1"/>
            <p:nvPr/>
          </p:nvSpPr>
          <p:spPr>
            <a:xfrm>
              <a:off x="1795381" y="-53422"/>
              <a:ext cx="19904687" cy="2549081"/>
            </a:xfrm>
            <a:prstGeom prst="rect">
              <a:avLst/>
            </a:prstGeom>
          </p:spPr>
          <p:txBody>
            <a:bodyPr lIns="0" tIns="0" rIns="0" bIns="0" rtlCol="0" anchor="t">
              <a:spAutoFit/>
            </a:bodyPr>
            <a:lstStyle/>
            <a:p>
              <a:pPr algn="l">
                <a:lnSpc>
                  <a:spcPts val="4534"/>
                </a:lnSpc>
              </a:pPr>
              <a:r>
                <a:rPr lang="en-US" sz="3238">
                  <a:solidFill>
                    <a:srgbClr val="000000"/>
                  </a:solidFill>
                  <a:latin typeface="Alatsi"/>
                  <a:ea typeface="Alatsi"/>
                  <a:cs typeface="Alatsi"/>
                  <a:sym typeface="Alatsi"/>
                </a:rPr>
                <a:t>Dataset Sourcing: </a:t>
              </a:r>
            </a:p>
            <a:p>
              <a:pPr marL="561339" lvl="1" indent="-280669" algn="l">
                <a:lnSpc>
                  <a:spcPts val="3639"/>
                </a:lnSpc>
                <a:buFont typeface="Arial"/>
                <a:buChar char="•"/>
              </a:pPr>
              <a:r>
                <a:rPr lang="en-US" sz="2599">
                  <a:solidFill>
                    <a:srgbClr val="000000"/>
                  </a:solidFill>
                  <a:latin typeface="Alatsi"/>
                  <a:ea typeface="Alatsi"/>
                  <a:cs typeface="Alatsi"/>
                  <a:sym typeface="Alatsi"/>
                </a:rPr>
                <a:t>Loaded “rahular/itihasa” dataset.</a:t>
              </a:r>
            </a:p>
            <a:p>
              <a:pPr marL="561339" lvl="1" indent="-280669" algn="l">
                <a:lnSpc>
                  <a:spcPts val="3639"/>
                </a:lnSpc>
                <a:buFont typeface="Arial"/>
                <a:buChar char="•"/>
              </a:pPr>
              <a:r>
                <a:rPr lang="en-US" sz="2599">
                  <a:solidFill>
                    <a:srgbClr val="000000"/>
                  </a:solidFill>
                  <a:latin typeface="Alatsi"/>
                  <a:ea typeface="Alatsi"/>
                  <a:cs typeface="Alatsi"/>
                  <a:sym typeface="Alatsi"/>
                </a:rPr>
                <a:t>Dataset has 2 files one with Sanskrit text and the other file with translation text in English.</a:t>
              </a:r>
            </a:p>
            <a:p>
              <a:pPr algn="l">
                <a:lnSpc>
                  <a:spcPts val="3639"/>
                </a:lnSpc>
              </a:pPr>
              <a:endParaRPr lang="en-US" sz="2599">
                <a:solidFill>
                  <a:srgbClr val="000000"/>
                </a:solidFill>
                <a:latin typeface="Alatsi"/>
                <a:ea typeface="Alatsi"/>
                <a:cs typeface="Alatsi"/>
                <a:sym typeface="Alatsi"/>
              </a:endParaRPr>
            </a:p>
          </p:txBody>
        </p:sp>
        <p:sp>
          <p:nvSpPr>
            <p:cNvPr id="17" name="TextBox 17"/>
            <p:cNvSpPr txBox="1"/>
            <p:nvPr/>
          </p:nvSpPr>
          <p:spPr>
            <a:xfrm>
              <a:off x="1795381" y="2820807"/>
              <a:ext cx="19904687" cy="3158681"/>
            </a:xfrm>
            <a:prstGeom prst="rect">
              <a:avLst/>
            </a:prstGeom>
          </p:spPr>
          <p:txBody>
            <a:bodyPr lIns="0" tIns="0" rIns="0" bIns="0" rtlCol="0" anchor="t">
              <a:spAutoFit/>
            </a:bodyPr>
            <a:lstStyle/>
            <a:p>
              <a:pPr algn="l">
                <a:lnSpc>
                  <a:spcPts val="4534"/>
                </a:lnSpc>
              </a:pPr>
              <a:r>
                <a:rPr lang="en-US" sz="3238">
                  <a:solidFill>
                    <a:srgbClr val="000000"/>
                  </a:solidFill>
                  <a:latin typeface="Alatsi"/>
                  <a:ea typeface="Alatsi"/>
                  <a:cs typeface="Alatsi"/>
                  <a:sym typeface="Alatsi"/>
                </a:rPr>
                <a:t>Data Cleaning: </a:t>
              </a:r>
            </a:p>
            <a:p>
              <a:pPr marL="561339" lvl="1" indent="-280669" algn="l">
                <a:lnSpc>
                  <a:spcPts val="3639"/>
                </a:lnSpc>
                <a:buFont typeface="Arial"/>
                <a:buChar char="•"/>
              </a:pPr>
              <a:r>
                <a:rPr lang="en-US" sz="2599">
                  <a:solidFill>
                    <a:srgbClr val="000000"/>
                  </a:solidFill>
                  <a:latin typeface="Alatsi"/>
                  <a:ea typeface="Alatsi"/>
                  <a:cs typeface="Alatsi"/>
                  <a:sym typeface="Alatsi"/>
                </a:rPr>
                <a:t>Remove Extra Whitespaces,  Special Characters, Numbers from text.</a:t>
              </a:r>
            </a:p>
            <a:p>
              <a:pPr marL="561339" lvl="1" indent="-280669" algn="l">
                <a:lnSpc>
                  <a:spcPts val="3639"/>
                </a:lnSpc>
                <a:buFont typeface="Arial"/>
                <a:buChar char="•"/>
              </a:pPr>
              <a:r>
                <a:rPr lang="en-US" sz="2599">
                  <a:solidFill>
                    <a:srgbClr val="000000"/>
                  </a:solidFill>
                  <a:latin typeface="Alatsi"/>
                  <a:ea typeface="Alatsi"/>
                  <a:cs typeface="Alatsi"/>
                  <a:sym typeface="Alatsi"/>
                </a:rPr>
                <a:t>The Decoder generates each target word step-by-step, using its previous hidden states and the last predicted word to progressively build the sequence. During training, teacher forcing is applied.</a:t>
              </a:r>
            </a:p>
            <a:p>
              <a:pPr algn="l">
                <a:lnSpc>
                  <a:spcPts val="3639"/>
                </a:lnSpc>
              </a:pPr>
              <a:endParaRPr lang="en-US" sz="2599">
                <a:solidFill>
                  <a:srgbClr val="000000"/>
                </a:solidFill>
                <a:latin typeface="Alatsi"/>
                <a:ea typeface="Alatsi"/>
                <a:cs typeface="Alatsi"/>
                <a:sym typeface="Alatsi"/>
              </a:endParaRPr>
            </a:p>
          </p:txBody>
        </p:sp>
        <p:sp>
          <p:nvSpPr>
            <p:cNvPr id="18" name="TextBox 18"/>
            <p:cNvSpPr txBox="1"/>
            <p:nvPr/>
          </p:nvSpPr>
          <p:spPr>
            <a:xfrm>
              <a:off x="1795381" y="5695036"/>
              <a:ext cx="19904687" cy="2549081"/>
            </a:xfrm>
            <a:prstGeom prst="rect">
              <a:avLst/>
            </a:prstGeom>
          </p:spPr>
          <p:txBody>
            <a:bodyPr lIns="0" tIns="0" rIns="0" bIns="0" rtlCol="0" anchor="t">
              <a:spAutoFit/>
            </a:bodyPr>
            <a:lstStyle/>
            <a:p>
              <a:pPr algn="l">
                <a:lnSpc>
                  <a:spcPts val="4534"/>
                </a:lnSpc>
              </a:pPr>
              <a:r>
                <a:rPr lang="en-US" sz="3238" dirty="0">
                  <a:solidFill>
                    <a:srgbClr val="000000"/>
                  </a:solidFill>
                  <a:latin typeface="Alatsi"/>
                  <a:ea typeface="Alatsi"/>
                  <a:cs typeface="Alatsi"/>
                  <a:sym typeface="Alatsi"/>
                </a:rPr>
                <a:t>Tokenization: </a:t>
              </a:r>
            </a:p>
            <a:p>
              <a:pPr marL="561339" lvl="1" indent="-280669" algn="l">
                <a:lnSpc>
                  <a:spcPts val="3639"/>
                </a:lnSpc>
                <a:buFont typeface="Arial"/>
                <a:buChar char="•"/>
              </a:pPr>
              <a:r>
                <a:rPr lang="en-US" sz="2599" dirty="0">
                  <a:solidFill>
                    <a:srgbClr val="000000"/>
                  </a:solidFill>
                  <a:latin typeface="Alatsi"/>
                  <a:ea typeface="Alatsi"/>
                  <a:cs typeface="Alatsi"/>
                  <a:sym typeface="Alatsi"/>
                </a:rPr>
                <a:t>Sanskrit Tokenization: Tokenizing Sanskrit requires handling compounded words</a:t>
              </a:r>
            </a:p>
            <a:p>
              <a:pPr marL="561339" lvl="1" indent="-280669" algn="l">
                <a:lnSpc>
                  <a:spcPts val="3639"/>
                </a:lnSpc>
                <a:buFont typeface="Arial"/>
                <a:buChar char="•"/>
              </a:pPr>
              <a:r>
                <a:rPr lang="en-US" sz="2599" dirty="0">
                  <a:solidFill>
                    <a:srgbClr val="000000"/>
                  </a:solidFill>
                  <a:latin typeface="Alatsi"/>
                  <a:ea typeface="Alatsi"/>
                  <a:cs typeface="Alatsi"/>
                  <a:sym typeface="Alatsi"/>
                </a:rPr>
                <a:t>English Tokenization: Standard tokenization methods are generally used for English</a:t>
              </a:r>
            </a:p>
            <a:p>
              <a:pPr algn="l">
                <a:lnSpc>
                  <a:spcPts val="3639"/>
                </a:lnSpc>
              </a:pPr>
              <a:endParaRPr lang="en-US" sz="2599" dirty="0">
                <a:solidFill>
                  <a:srgbClr val="000000"/>
                </a:solidFill>
                <a:latin typeface="Alatsi"/>
                <a:ea typeface="Alatsi"/>
                <a:cs typeface="Alatsi"/>
                <a:sym typeface="Alatsi"/>
              </a:endParaRPr>
            </a:p>
          </p:txBody>
        </p:sp>
      </p:grpSp>
      <p:grpSp>
        <p:nvGrpSpPr>
          <p:cNvPr id="19" name="Group 19"/>
          <p:cNvGrpSpPr/>
          <p:nvPr/>
        </p:nvGrpSpPr>
        <p:grpSpPr>
          <a:xfrm>
            <a:off x="627362" y="0"/>
            <a:ext cx="937061" cy="10287000"/>
            <a:chOff x="0" y="0"/>
            <a:chExt cx="246798" cy="2709333"/>
          </a:xfrm>
        </p:grpSpPr>
        <p:sp>
          <p:nvSpPr>
            <p:cNvPr id="20" name="Freeform 20"/>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21" name="TextBox 21"/>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22" name="AutoShape 22"/>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23" name="AutoShape 23"/>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24" name="Group 24"/>
          <p:cNvGrpSpPr/>
          <p:nvPr/>
        </p:nvGrpSpPr>
        <p:grpSpPr>
          <a:xfrm>
            <a:off x="15859155" y="0"/>
            <a:ext cx="1562612" cy="1673225"/>
            <a:chOff x="0" y="0"/>
            <a:chExt cx="2083482" cy="2230967"/>
          </a:xfrm>
        </p:grpSpPr>
        <p:grpSp>
          <p:nvGrpSpPr>
            <p:cNvPr id="25" name="Group 25"/>
            <p:cNvGrpSpPr/>
            <p:nvPr/>
          </p:nvGrpSpPr>
          <p:grpSpPr>
            <a:xfrm>
              <a:off x="75599" y="0"/>
              <a:ext cx="1932284" cy="2230967"/>
              <a:chOff x="0" y="0"/>
              <a:chExt cx="703982" cy="812800"/>
            </a:xfrm>
          </p:grpSpPr>
          <p:sp>
            <p:nvSpPr>
              <p:cNvPr id="26" name="Freeform 26"/>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27" name="TextBox 27"/>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7</a:t>
              </a:r>
            </a:p>
          </p:txBody>
        </p:sp>
      </p:grpSp>
      <p:sp>
        <p:nvSpPr>
          <p:cNvPr id="29" name="Freeform 29"/>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0" name="Freeform 30"/>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923925"/>
            <a:ext cx="16230600" cy="969638"/>
          </a:xfrm>
          <a:prstGeom prst="rect">
            <a:avLst/>
          </a:prstGeom>
        </p:spPr>
        <p:txBody>
          <a:bodyPr lIns="0" tIns="0" rIns="0" bIns="0" rtlCol="0" anchor="t">
            <a:spAutoFit/>
          </a:bodyPr>
          <a:lstStyle/>
          <a:p>
            <a:pPr algn="ctr">
              <a:lnSpc>
                <a:spcPts val="7980"/>
              </a:lnSpc>
            </a:pPr>
            <a:r>
              <a:rPr lang="en-US" sz="5700">
                <a:solidFill>
                  <a:srgbClr val="000000"/>
                </a:solidFill>
                <a:latin typeface="Alatsi"/>
                <a:ea typeface="Alatsi"/>
                <a:cs typeface="Alatsi"/>
                <a:sym typeface="Alatsi"/>
              </a:rPr>
              <a:t>DATA PREPARATION</a:t>
            </a:r>
          </a:p>
        </p:txBody>
      </p:sp>
      <p:grpSp>
        <p:nvGrpSpPr>
          <p:cNvPr id="3" name="Group 3"/>
          <p:cNvGrpSpPr/>
          <p:nvPr/>
        </p:nvGrpSpPr>
        <p:grpSpPr>
          <a:xfrm>
            <a:off x="627362" y="0"/>
            <a:ext cx="937061" cy="10287000"/>
            <a:chOff x="0" y="0"/>
            <a:chExt cx="246798" cy="2709333"/>
          </a:xfrm>
        </p:grpSpPr>
        <p:sp>
          <p:nvSpPr>
            <p:cNvPr id="4" name="Freeform 4"/>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5" name="TextBox 5"/>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6" name="AutoShape 6"/>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7" name="AutoShape 7"/>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8" name="Group 8"/>
          <p:cNvGrpSpPr/>
          <p:nvPr/>
        </p:nvGrpSpPr>
        <p:grpSpPr>
          <a:xfrm>
            <a:off x="15859155" y="0"/>
            <a:ext cx="1562612" cy="1673225"/>
            <a:chOff x="0" y="0"/>
            <a:chExt cx="2083482" cy="2230967"/>
          </a:xfrm>
        </p:grpSpPr>
        <p:grpSp>
          <p:nvGrpSpPr>
            <p:cNvPr id="9" name="Group 9"/>
            <p:cNvGrpSpPr/>
            <p:nvPr/>
          </p:nvGrpSpPr>
          <p:grpSpPr>
            <a:xfrm>
              <a:off x="75599" y="0"/>
              <a:ext cx="1932284" cy="2230967"/>
              <a:chOff x="0" y="0"/>
              <a:chExt cx="703982" cy="812800"/>
            </a:xfrm>
          </p:grpSpPr>
          <p:sp>
            <p:nvSpPr>
              <p:cNvPr id="10" name="Freeform 1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1" name="TextBox 11"/>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8</a:t>
              </a:r>
            </a:p>
          </p:txBody>
        </p:sp>
      </p:grpSp>
      <p:sp>
        <p:nvSpPr>
          <p:cNvPr id="13" name="Freeform 13"/>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2621102" y="1986211"/>
            <a:ext cx="13238053" cy="7396762"/>
          </a:xfrm>
          <a:custGeom>
            <a:avLst/>
            <a:gdLst/>
            <a:ahLst/>
            <a:cxnLst/>
            <a:rect l="l" t="t" r="r" b="b"/>
            <a:pathLst>
              <a:path w="13238053" h="7396762">
                <a:moveTo>
                  <a:pt x="0" y="0"/>
                </a:moveTo>
                <a:lnTo>
                  <a:pt x="13238053" y="0"/>
                </a:lnTo>
                <a:lnTo>
                  <a:pt x="13238053" y="7396762"/>
                </a:lnTo>
                <a:lnTo>
                  <a:pt x="0" y="7396762"/>
                </a:lnTo>
                <a:lnTo>
                  <a:pt x="0" y="0"/>
                </a:lnTo>
                <a:close/>
              </a:path>
            </a:pathLst>
          </a:custGeom>
          <a:blipFill>
            <a:blip r:embed="rId4"/>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547891" y="2507721"/>
            <a:ext cx="340366" cy="34036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820"/>
                </a:lnSpc>
              </a:pPr>
              <a:endParaRPr/>
            </a:p>
          </p:txBody>
        </p:sp>
      </p:grpSp>
      <p:sp>
        <p:nvSpPr>
          <p:cNvPr id="5" name="TextBox 5"/>
          <p:cNvSpPr txBox="1"/>
          <p:nvPr/>
        </p:nvSpPr>
        <p:spPr>
          <a:xfrm>
            <a:off x="1028700" y="383625"/>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TRAINING PROCESS</a:t>
            </a:r>
          </a:p>
        </p:txBody>
      </p:sp>
      <p:sp>
        <p:nvSpPr>
          <p:cNvPr id="6" name="TextBox 6"/>
          <p:cNvSpPr txBox="1"/>
          <p:nvPr/>
        </p:nvSpPr>
        <p:spPr>
          <a:xfrm>
            <a:off x="2064851" y="5139796"/>
            <a:ext cx="7530658" cy="771525"/>
          </a:xfrm>
          <a:prstGeom prst="rect">
            <a:avLst/>
          </a:prstGeom>
        </p:spPr>
        <p:txBody>
          <a:bodyPr lIns="0" tIns="0" rIns="0" bIns="0" rtlCol="0" anchor="t">
            <a:spAutoFit/>
          </a:bodyPr>
          <a:lstStyle/>
          <a:p>
            <a:pPr algn="l">
              <a:lnSpc>
                <a:spcPts val="6300"/>
              </a:lnSpc>
            </a:pPr>
            <a:r>
              <a:rPr lang="en-US" sz="4500">
                <a:solidFill>
                  <a:srgbClr val="000000"/>
                </a:solidFill>
                <a:latin typeface="Alatsi"/>
                <a:ea typeface="Alatsi"/>
                <a:cs typeface="Alatsi"/>
                <a:sym typeface="Alatsi"/>
              </a:rPr>
              <a:t>Training Steps</a:t>
            </a:r>
          </a:p>
        </p:txBody>
      </p:sp>
      <p:sp>
        <p:nvSpPr>
          <p:cNvPr id="7" name="TextBox 7"/>
          <p:cNvSpPr txBox="1"/>
          <p:nvPr/>
        </p:nvSpPr>
        <p:spPr>
          <a:xfrm>
            <a:off x="2064851" y="3024096"/>
            <a:ext cx="14847341" cy="2613025"/>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000000"/>
                </a:solidFill>
                <a:latin typeface="Alatsi"/>
                <a:ea typeface="Alatsi"/>
                <a:cs typeface="Alatsi"/>
                <a:sym typeface="Alatsi"/>
              </a:rPr>
              <a:t>Embedding Layers: Set up embedding layers for both Sanskrit and English vocabularies to convert words into vector representations.</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Encoder-Decoder Architecture: Define the LSTM-based Encoder-Decoder architecture with an attention mechanism if applicable, allowing the model to focus on relevant parts of the Sanskrit sentence during decoding.</a:t>
            </a:r>
          </a:p>
          <a:p>
            <a:pPr algn="l">
              <a:lnSpc>
                <a:spcPts val="3499"/>
              </a:lnSpc>
            </a:pPr>
            <a:endParaRPr lang="en-US" sz="2499" dirty="0">
              <a:solidFill>
                <a:srgbClr val="000000"/>
              </a:solidFill>
              <a:latin typeface="Alatsi"/>
              <a:ea typeface="Alatsi"/>
              <a:cs typeface="Alatsi"/>
              <a:sym typeface="Alatsi"/>
            </a:endParaRPr>
          </a:p>
        </p:txBody>
      </p:sp>
      <p:sp>
        <p:nvSpPr>
          <p:cNvPr id="8" name="Freeform 8"/>
          <p:cNvSpPr/>
          <p:nvPr/>
        </p:nvSpPr>
        <p:spPr>
          <a:xfrm>
            <a:off x="13764167" y="582762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064851" y="5930370"/>
            <a:ext cx="14847341" cy="3051175"/>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000000"/>
                </a:solidFill>
                <a:latin typeface="Alatsi"/>
                <a:ea typeface="Alatsi"/>
                <a:cs typeface="Alatsi"/>
                <a:sym typeface="Alatsi"/>
              </a:rPr>
              <a:t>Forward Propagation: For each training example, pass the Sanskrit sentence through the Encoder to generate the context vector, and use this vector to generate the English sentence step-by-step through the Decoder.</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Loss Calculation: Compute the loss between the predicted output and the actual English translation.</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Backward Propagation: Update weights in the Encoder and Decoder using backpropagation through time (BPTT) to minimize the loss.</a:t>
            </a:r>
          </a:p>
          <a:p>
            <a:pPr algn="l">
              <a:lnSpc>
                <a:spcPts val="3499"/>
              </a:lnSpc>
            </a:pPr>
            <a:endParaRPr lang="en-US" sz="2499" dirty="0">
              <a:solidFill>
                <a:srgbClr val="000000"/>
              </a:solidFill>
              <a:latin typeface="Alatsi"/>
              <a:ea typeface="Alatsi"/>
              <a:cs typeface="Alatsi"/>
              <a:sym typeface="Alatsi"/>
            </a:endParaRPr>
          </a:p>
        </p:txBody>
      </p:sp>
      <p:sp>
        <p:nvSpPr>
          <p:cNvPr id="10" name="AutoShape 10"/>
          <p:cNvSpPr/>
          <p:nvPr/>
        </p:nvSpPr>
        <p:spPr>
          <a:xfrm>
            <a:off x="-280731" y="9388927"/>
            <a:ext cx="7105264" cy="19050"/>
          </a:xfrm>
          <a:prstGeom prst="line">
            <a:avLst/>
          </a:prstGeom>
          <a:ln w="114300" cap="flat">
            <a:solidFill>
              <a:srgbClr val="9FC3D0"/>
            </a:solidFill>
            <a:prstDash val="solid"/>
            <a:headEnd type="none" w="sm" len="sm"/>
            <a:tailEnd type="none" w="sm" len="sm"/>
          </a:ln>
        </p:spPr>
      </p:sp>
      <p:sp>
        <p:nvSpPr>
          <p:cNvPr id="11" name="AutoShape 11"/>
          <p:cNvSpPr/>
          <p:nvPr/>
        </p:nvSpPr>
        <p:spPr>
          <a:xfrm>
            <a:off x="11430169" y="9379402"/>
            <a:ext cx="7105264" cy="19050"/>
          </a:xfrm>
          <a:prstGeom prst="line">
            <a:avLst/>
          </a:prstGeom>
          <a:ln w="114300" cap="flat">
            <a:solidFill>
              <a:srgbClr val="9FC3D0"/>
            </a:solidFill>
            <a:prstDash val="solid"/>
            <a:headEnd type="none" w="sm" len="sm"/>
            <a:tailEnd type="none" w="sm" len="sm"/>
          </a:ln>
        </p:spPr>
      </p:sp>
      <p:grpSp>
        <p:nvGrpSpPr>
          <p:cNvPr id="12" name="Group 12"/>
          <p:cNvGrpSpPr/>
          <p:nvPr/>
        </p:nvGrpSpPr>
        <p:grpSpPr>
          <a:xfrm>
            <a:off x="15859155" y="0"/>
            <a:ext cx="1562612" cy="1673225"/>
            <a:chOff x="0" y="0"/>
            <a:chExt cx="2083482" cy="2230967"/>
          </a:xfrm>
        </p:grpSpPr>
        <p:grpSp>
          <p:nvGrpSpPr>
            <p:cNvPr id="13" name="Group 13"/>
            <p:cNvGrpSpPr/>
            <p:nvPr/>
          </p:nvGrpSpPr>
          <p:grpSpPr>
            <a:xfrm>
              <a:off x="75599" y="0"/>
              <a:ext cx="1932284" cy="2230967"/>
              <a:chOff x="0" y="0"/>
              <a:chExt cx="703982" cy="812800"/>
            </a:xfrm>
          </p:grpSpPr>
          <p:sp>
            <p:nvSpPr>
              <p:cNvPr id="14" name="Freeform 1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5" name="TextBox 15"/>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9</a:t>
              </a:r>
            </a:p>
          </p:txBody>
        </p:sp>
      </p:grpSp>
      <p:sp>
        <p:nvSpPr>
          <p:cNvPr id="17" name="Freeform 17"/>
          <p:cNvSpPr/>
          <p:nvPr/>
        </p:nvSpPr>
        <p:spPr>
          <a:xfrm>
            <a:off x="-2628900" y="-1449083"/>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8" name="Group 18"/>
          <p:cNvGrpSpPr/>
          <p:nvPr/>
        </p:nvGrpSpPr>
        <p:grpSpPr>
          <a:xfrm>
            <a:off x="1512273" y="5374368"/>
            <a:ext cx="411601" cy="41160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1820"/>
                </a:lnSpc>
              </a:pPr>
              <a:endParaRPr/>
            </a:p>
          </p:txBody>
        </p:sp>
      </p:grpSp>
      <p:sp>
        <p:nvSpPr>
          <p:cNvPr id="21" name="TextBox 21"/>
          <p:cNvSpPr txBox="1"/>
          <p:nvPr/>
        </p:nvSpPr>
        <p:spPr>
          <a:xfrm>
            <a:off x="2064851" y="2237531"/>
            <a:ext cx="7530658" cy="771525"/>
          </a:xfrm>
          <a:prstGeom prst="rect">
            <a:avLst/>
          </a:prstGeom>
        </p:spPr>
        <p:txBody>
          <a:bodyPr lIns="0" tIns="0" rIns="0" bIns="0" rtlCol="0" anchor="t">
            <a:spAutoFit/>
          </a:bodyPr>
          <a:lstStyle/>
          <a:p>
            <a:pPr algn="l">
              <a:lnSpc>
                <a:spcPts val="6300"/>
              </a:lnSpc>
            </a:pPr>
            <a:r>
              <a:rPr lang="en-US" sz="4500" dirty="0">
                <a:solidFill>
                  <a:srgbClr val="000000"/>
                </a:solidFill>
                <a:latin typeface="Alatsi"/>
                <a:ea typeface="Alatsi"/>
                <a:cs typeface="Alatsi"/>
                <a:sym typeface="Alatsi"/>
              </a:rPr>
              <a:t>Initializing the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028700" y="383625"/>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TRAINING PROCESS</a:t>
            </a:r>
          </a:p>
        </p:txBody>
      </p:sp>
      <p:sp>
        <p:nvSpPr>
          <p:cNvPr id="8" name="Freeform 8"/>
          <p:cNvSpPr/>
          <p:nvPr/>
        </p:nvSpPr>
        <p:spPr>
          <a:xfrm>
            <a:off x="13764167" y="582762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AutoShape 10"/>
          <p:cNvSpPr/>
          <p:nvPr/>
        </p:nvSpPr>
        <p:spPr>
          <a:xfrm>
            <a:off x="-280731" y="9388927"/>
            <a:ext cx="7105264" cy="19050"/>
          </a:xfrm>
          <a:prstGeom prst="line">
            <a:avLst/>
          </a:prstGeom>
          <a:ln w="114300" cap="flat">
            <a:solidFill>
              <a:srgbClr val="9FC3D0"/>
            </a:solidFill>
            <a:prstDash val="solid"/>
            <a:headEnd type="none" w="sm" len="sm"/>
            <a:tailEnd type="none" w="sm" len="sm"/>
          </a:ln>
        </p:spPr>
      </p:sp>
      <p:sp>
        <p:nvSpPr>
          <p:cNvPr id="11" name="AutoShape 11"/>
          <p:cNvSpPr/>
          <p:nvPr/>
        </p:nvSpPr>
        <p:spPr>
          <a:xfrm>
            <a:off x="11430169" y="9379402"/>
            <a:ext cx="7105264" cy="19050"/>
          </a:xfrm>
          <a:prstGeom prst="line">
            <a:avLst/>
          </a:prstGeom>
          <a:ln w="114300" cap="flat">
            <a:solidFill>
              <a:srgbClr val="9FC3D0"/>
            </a:solidFill>
            <a:prstDash val="solid"/>
            <a:headEnd type="none" w="sm" len="sm"/>
            <a:tailEnd type="none" w="sm" len="sm"/>
          </a:ln>
        </p:spPr>
      </p:sp>
      <p:grpSp>
        <p:nvGrpSpPr>
          <p:cNvPr id="12" name="Group 12"/>
          <p:cNvGrpSpPr/>
          <p:nvPr/>
        </p:nvGrpSpPr>
        <p:grpSpPr>
          <a:xfrm>
            <a:off x="15859155" y="0"/>
            <a:ext cx="1562612" cy="1673225"/>
            <a:chOff x="0" y="0"/>
            <a:chExt cx="2083482" cy="2230967"/>
          </a:xfrm>
        </p:grpSpPr>
        <p:grpSp>
          <p:nvGrpSpPr>
            <p:cNvPr id="13" name="Group 13"/>
            <p:cNvGrpSpPr/>
            <p:nvPr/>
          </p:nvGrpSpPr>
          <p:grpSpPr>
            <a:xfrm>
              <a:off x="75599" y="0"/>
              <a:ext cx="1932284" cy="2230967"/>
              <a:chOff x="0" y="0"/>
              <a:chExt cx="703982" cy="812800"/>
            </a:xfrm>
          </p:grpSpPr>
          <p:sp>
            <p:nvSpPr>
              <p:cNvPr id="14" name="Freeform 1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5" name="TextBox 15"/>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9</a:t>
              </a:r>
            </a:p>
          </p:txBody>
        </p:sp>
      </p:grpSp>
      <p:sp>
        <p:nvSpPr>
          <p:cNvPr id="17" name="Freeform 17"/>
          <p:cNvSpPr/>
          <p:nvPr/>
        </p:nvSpPr>
        <p:spPr>
          <a:xfrm>
            <a:off x="-2628900" y="-1449083"/>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23" name="Picture 22">
            <a:extLst>
              <a:ext uri="{FF2B5EF4-FFF2-40B4-BE49-F238E27FC236}">
                <a16:creationId xmlns:a16="http://schemas.microsoft.com/office/drawing/2014/main" id="{55713994-FDD6-2727-22FB-7740E24DEB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994" y="2189949"/>
            <a:ext cx="10768012" cy="6047252"/>
          </a:xfrm>
          <a:prstGeom prst="rect">
            <a:avLst/>
          </a:prstGeom>
        </p:spPr>
      </p:pic>
    </p:spTree>
    <p:extLst>
      <p:ext uri="{BB962C8B-B14F-4D97-AF65-F5344CB8AC3E}">
        <p14:creationId xmlns:p14="http://schemas.microsoft.com/office/powerpoint/2010/main" val="3990211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547891" y="2062590"/>
            <a:ext cx="340366" cy="34036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820"/>
                </a:lnSpc>
              </a:pPr>
              <a:endParaRPr/>
            </a:p>
          </p:txBody>
        </p:sp>
      </p:grpSp>
      <p:sp>
        <p:nvSpPr>
          <p:cNvPr id="5" name="TextBox 5"/>
          <p:cNvSpPr txBox="1"/>
          <p:nvPr/>
        </p:nvSpPr>
        <p:spPr>
          <a:xfrm>
            <a:off x="1028700" y="222250"/>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TRAINING PROCESS</a:t>
            </a:r>
          </a:p>
        </p:txBody>
      </p:sp>
      <p:sp>
        <p:nvSpPr>
          <p:cNvPr id="6" name="TextBox 6"/>
          <p:cNvSpPr txBox="1"/>
          <p:nvPr/>
        </p:nvSpPr>
        <p:spPr>
          <a:xfrm>
            <a:off x="2064851" y="4584993"/>
            <a:ext cx="7530658" cy="688974"/>
          </a:xfrm>
          <a:prstGeom prst="rect">
            <a:avLst/>
          </a:prstGeom>
        </p:spPr>
        <p:txBody>
          <a:bodyPr lIns="0" tIns="0" rIns="0" bIns="0" rtlCol="0" anchor="t">
            <a:spAutoFit/>
          </a:bodyPr>
          <a:lstStyle/>
          <a:p>
            <a:pPr algn="l">
              <a:lnSpc>
                <a:spcPts val="5600"/>
              </a:lnSpc>
            </a:pPr>
            <a:r>
              <a:rPr lang="en-US" sz="4000">
                <a:solidFill>
                  <a:srgbClr val="000000"/>
                </a:solidFill>
                <a:latin typeface="Alatsi"/>
                <a:ea typeface="Alatsi"/>
                <a:cs typeface="Alatsi"/>
                <a:sym typeface="Alatsi"/>
              </a:rPr>
              <a:t>Optimization Strategies</a:t>
            </a:r>
          </a:p>
        </p:txBody>
      </p:sp>
      <p:sp>
        <p:nvSpPr>
          <p:cNvPr id="7" name="TextBox 7"/>
          <p:cNvSpPr txBox="1"/>
          <p:nvPr/>
        </p:nvSpPr>
        <p:spPr>
          <a:xfrm>
            <a:off x="1923874" y="2541496"/>
            <a:ext cx="15497893" cy="2174875"/>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000000"/>
                </a:solidFill>
                <a:latin typeface="Alatsi"/>
                <a:ea typeface="Alatsi"/>
                <a:cs typeface="Alatsi"/>
                <a:sym typeface="Alatsi"/>
              </a:rPr>
              <a:t>Learning Rate: Optimize the learning rate, as it significantly impacts convergence. </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Batch Size: Experiment with different batch sizes to find a balance between training speed and stability.</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Number of Layers and LSTM Units: Tuning the number of LSTM layers and units per layer.</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Dropout Rate: Use dropout to prevent overfitting</a:t>
            </a:r>
          </a:p>
          <a:p>
            <a:pPr algn="l">
              <a:lnSpc>
                <a:spcPts val="3499"/>
              </a:lnSpc>
            </a:pPr>
            <a:endParaRPr lang="en-US" sz="2499" dirty="0">
              <a:solidFill>
                <a:srgbClr val="000000"/>
              </a:solidFill>
              <a:latin typeface="Alatsi"/>
              <a:ea typeface="Alatsi"/>
              <a:cs typeface="Alatsi"/>
              <a:sym typeface="Alatsi"/>
            </a:endParaRPr>
          </a:p>
        </p:txBody>
      </p:sp>
      <p:sp>
        <p:nvSpPr>
          <p:cNvPr id="8" name="Freeform 8"/>
          <p:cNvSpPr/>
          <p:nvPr/>
        </p:nvSpPr>
        <p:spPr>
          <a:xfrm>
            <a:off x="13764167" y="582762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064851" y="5321593"/>
            <a:ext cx="8374549" cy="4011483"/>
          </a:xfrm>
          <a:prstGeom prst="rect">
            <a:avLst/>
          </a:prstGeom>
        </p:spPr>
        <p:txBody>
          <a:bodyPr wrap="square" lIns="0" tIns="0" rIns="0" bIns="0" rtlCol="0" anchor="t">
            <a:spAutoFit/>
          </a:bodyPr>
          <a:lstStyle/>
          <a:p>
            <a:pPr marL="539749" lvl="1" indent="-269875" algn="l">
              <a:lnSpc>
                <a:spcPts val="3499"/>
              </a:lnSpc>
              <a:buFont typeface="Arial"/>
              <a:buChar char="•"/>
            </a:pPr>
            <a:r>
              <a:rPr lang="en-US" sz="2499" dirty="0">
                <a:solidFill>
                  <a:srgbClr val="000000"/>
                </a:solidFill>
                <a:latin typeface="Alatsi"/>
                <a:ea typeface="Alatsi"/>
                <a:cs typeface="Alatsi"/>
                <a:sym typeface="Alatsi"/>
              </a:rPr>
              <a:t>Teacher Forcing: The actual next word is fed into the Decoder instead of the model’s prediction.</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Early Stopping: Monitor the validation loss to prevent overfitting.</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Regularization: Apply L2 regularization or dropout within the LSTM layers to manage overfitting.</a:t>
            </a:r>
          </a:p>
          <a:p>
            <a:pPr marL="539749" lvl="1" indent="-269875" algn="l">
              <a:lnSpc>
                <a:spcPts val="3499"/>
              </a:lnSpc>
              <a:buFont typeface="Arial"/>
              <a:buChar char="•"/>
            </a:pPr>
            <a:r>
              <a:rPr lang="en-US" sz="2499" dirty="0">
                <a:solidFill>
                  <a:srgbClr val="000000"/>
                </a:solidFill>
                <a:latin typeface="Alatsi"/>
                <a:ea typeface="Alatsi"/>
                <a:cs typeface="Alatsi"/>
                <a:sym typeface="Alatsi"/>
              </a:rPr>
              <a:t>Gradient Clipping: Prevent exploding gradients by clipping them to a maximum norm.</a:t>
            </a:r>
          </a:p>
          <a:p>
            <a:pPr algn="l">
              <a:lnSpc>
                <a:spcPts val="3499"/>
              </a:lnSpc>
            </a:pPr>
            <a:endParaRPr lang="en-US" sz="2499" dirty="0">
              <a:solidFill>
                <a:srgbClr val="000000"/>
              </a:solidFill>
              <a:latin typeface="Alatsi"/>
              <a:ea typeface="Alatsi"/>
              <a:cs typeface="Alatsi"/>
              <a:sym typeface="Alatsi"/>
            </a:endParaRPr>
          </a:p>
        </p:txBody>
      </p:sp>
      <p:grpSp>
        <p:nvGrpSpPr>
          <p:cNvPr id="10" name="Group 10"/>
          <p:cNvGrpSpPr/>
          <p:nvPr/>
        </p:nvGrpSpPr>
        <p:grpSpPr>
          <a:xfrm>
            <a:off x="15859155" y="0"/>
            <a:ext cx="1562612" cy="1673225"/>
            <a:chOff x="0" y="0"/>
            <a:chExt cx="2083482" cy="2230967"/>
          </a:xfrm>
        </p:grpSpPr>
        <p:grpSp>
          <p:nvGrpSpPr>
            <p:cNvPr id="11" name="Group 11"/>
            <p:cNvGrpSpPr/>
            <p:nvPr/>
          </p:nvGrpSpPr>
          <p:grpSpPr>
            <a:xfrm>
              <a:off x="75599" y="0"/>
              <a:ext cx="1932284" cy="2230967"/>
              <a:chOff x="0" y="0"/>
              <a:chExt cx="703982" cy="812800"/>
            </a:xfrm>
          </p:grpSpPr>
          <p:sp>
            <p:nvSpPr>
              <p:cNvPr id="12" name="Freeform 12"/>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3" name="TextBox 13"/>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9</a:t>
              </a:r>
            </a:p>
          </p:txBody>
        </p:sp>
      </p:grpSp>
      <p:sp>
        <p:nvSpPr>
          <p:cNvPr id="15" name="Freeform 15"/>
          <p:cNvSpPr/>
          <p:nvPr/>
        </p:nvSpPr>
        <p:spPr>
          <a:xfrm>
            <a:off x="-2628900" y="-1449083"/>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a:off x="1547891" y="4802160"/>
            <a:ext cx="340366" cy="34036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1820"/>
                </a:lnSpc>
              </a:pPr>
              <a:endParaRPr/>
            </a:p>
          </p:txBody>
        </p:sp>
      </p:grpSp>
      <p:sp>
        <p:nvSpPr>
          <p:cNvPr id="19" name="TextBox 19"/>
          <p:cNvSpPr txBox="1"/>
          <p:nvPr/>
        </p:nvSpPr>
        <p:spPr>
          <a:xfrm>
            <a:off x="2064851" y="1804148"/>
            <a:ext cx="7530658" cy="688974"/>
          </a:xfrm>
          <a:prstGeom prst="rect">
            <a:avLst/>
          </a:prstGeom>
        </p:spPr>
        <p:txBody>
          <a:bodyPr lIns="0" tIns="0" rIns="0" bIns="0" rtlCol="0" anchor="t">
            <a:spAutoFit/>
          </a:bodyPr>
          <a:lstStyle/>
          <a:p>
            <a:pPr algn="l">
              <a:lnSpc>
                <a:spcPts val="5600"/>
              </a:lnSpc>
            </a:pPr>
            <a:r>
              <a:rPr lang="en-US" sz="4000">
                <a:solidFill>
                  <a:srgbClr val="000000"/>
                </a:solidFill>
                <a:latin typeface="Alatsi"/>
                <a:ea typeface="Alatsi"/>
                <a:cs typeface="Alatsi"/>
                <a:sym typeface="Alatsi"/>
              </a:rPr>
              <a:t>Hyperparameter Tuning</a:t>
            </a:r>
          </a:p>
        </p:txBody>
      </p:sp>
      <p:pic>
        <p:nvPicPr>
          <p:cNvPr id="29" name="Picture 28">
            <a:extLst>
              <a:ext uri="{FF2B5EF4-FFF2-40B4-BE49-F238E27FC236}">
                <a16:creationId xmlns:a16="http://schemas.microsoft.com/office/drawing/2014/main" id="{A6CAEC7D-5601-FC70-7D74-F9560C37D1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4600" y="3546034"/>
            <a:ext cx="4695886" cy="3551118"/>
          </a:xfrm>
          <a:prstGeom prst="rect">
            <a:avLst/>
          </a:prstGeom>
        </p:spPr>
      </p:pic>
      <p:pic>
        <p:nvPicPr>
          <p:cNvPr id="31" name="Picture 30">
            <a:extLst>
              <a:ext uri="{FF2B5EF4-FFF2-40B4-BE49-F238E27FC236}">
                <a16:creationId xmlns:a16="http://schemas.microsoft.com/office/drawing/2014/main" id="{008E28D1-0286-B4F9-44C6-3E34853F03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41309" y="6241532"/>
            <a:ext cx="4235692" cy="33369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PERFORMANCE EVALUATION</a:t>
            </a:r>
          </a:p>
        </p:txBody>
      </p:sp>
      <p:grpSp>
        <p:nvGrpSpPr>
          <p:cNvPr id="9" name="Group 9"/>
          <p:cNvGrpSpPr/>
          <p:nvPr/>
        </p:nvGrpSpPr>
        <p:grpSpPr>
          <a:xfrm>
            <a:off x="1770238" y="3514747"/>
            <a:ext cx="6402343" cy="3715210"/>
            <a:chOff x="0" y="0"/>
            <a:chExt cx="1699021" cy="916318"/>
          </a:xfrm>
        </p:grpSpPr>
        <p:sp>
          <p:nvSpPr>
            <p:cNvPr id="10" name="Freeform 10"/>
            <p:cNvSpPr/>
            <p:nvPr/>
          </p:nvSpPr>
          <p:spPr>
            <a:xfrm>
              <a:off x="0" y="0"/>
              <a:ext cx="1699021" cy="916318"/>
            </a:xfrm>
            <a:custGeom>
              <a:avLst/>
              <a:gdLst/>
              <a:ahLst/>
              <a:cxnLst/>
              <a:rect l="l" t="t" r="r" b="b"/>
              <a:pathLst>
                <a:path w="1699021" h="916318">
                  <a:moveTo>
                    <a:pt x="61206" y="0"/>
                  </a:moveTo>
                  <a:lnTo>
                    <a:pt x="1637815" y="0"/>
                  </a:lnTo>
                  <a:cubicBezTo>
                    <a:pt x="1654047" y="0"/>
                    <a:pt x="1669616" y="6448"/>
                    <a:pt x="1681094" y="17927"/>
                  </a:cubicBezTo>
                  <a:cubicBezTo>
                    <a:pt x="1692572" y="29405"/>
                    <a:pt x="1699021" y="44973"/>
                    <a:pt x="1699021" y="61206"/>
                  </a:cubicBezTo>
                  <a:lnTo>
                    <a:pt x="1699021" y="855112"/>
                  </a:lnTo>
                  <a:cubicBezTo>
                    <a:pt x="1699021" y="888915"/>
                    <a:pt x="1671618" y="916318"/>
                    <a:pt x="1637815" y="916318"/>
                  </a:cubicBezTo>
                  <a:lnTo>
                    <a:pt x="61206" y="916318"/>
                  </a:lnTo>
                  <a:cubicBezTo>
                    <a:pt x="44973" y="916318"/>
                    <a:pt x="29405" y="909870"/>
                    <a:pt x="17927" y="898391"/>
                  </a:cubicBezTo>
                  <a:cubicBezTo>
                    <a:pt x="6448" y="886913"/>
                    <a:pt x="0" y="871345"/>
                    <a:pt x="0" y="855112"/>
                  </a:cubicBezTo>
                  <a:lnTo>
                    <a:pt x="0" y="61206"/>
                  </a:lnTo>
                  <a:cubicBezTo>
                    <a:pt x="0" y="44973"/>
                    <a:pt x="6448" y="29405"/>
                    <a:pt x="17927" y="17927"/>
                  </a:cubicBezTo>
                  <a:cubicBezTo>
                    <a:pt x="29405" y="6448"/>
                    <a:pt x="44973" y="0"/>
                    <a:pt x="61206" y="0"/>
                  </a:cubicBezTo>
                  <a:close/>
                </a:path>
              </a:pathLst>
            </a:custGeom>
            <a:solidFill>
              <a:srgbClr val="E9C7C6"/>
            </a:solidFill>
          </p:spPr>
        </p:sp>
        <p:sp>
          <p:nvSpPr>
            <p:cNvPr id="11" name="TextBox 11"/>
            <p:cNvSpPr txBox="1"/>
            <p:nvPr/>
          </p:nvSpPr>
          <p:spPr>
            <a:xfrm>
              <a:off x="0" y="-38100"/>
              <a:ext cx="1699021" cy="954418"/>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676400" y="2824864"/>
            <a:ext cx="6590020" cy="670833"/>
          </a:xfrm>
          <a:prstGeom prst="rect">
            <a:avLst/>
          </a:prstGeom>
        </p:spPr>
        <p:txBody>
          <a:bodyPr lIns="0" tIns="0" rIns="0" bIns="0" rtlCol="0" anchor="t">
            <a:spAutoFit/>
          </a:bodyPr>
          <a:lstStyle/>
          <a:p>
            <a:pPr algn="l">
              <a:lnSpc>
                <a:spcPts val="5487"/>
              </a:lnSpc>
            </a:pPr>
            <a:r>
              <a:rPr lang="en-US" sz="3919" dirty="0">
                <a:solidFill>
                  <a:srgbClr val="000000"/>
                </a:solidFill>
                <a:latin typeface="Alatsi"/>
                <a:ea typeface="Alatsi"/>
                <a:cs typeface="Alatsi"/>
                <a:sym typeface="Alatsi"/>
              </a:rPr>
              <a:t>Accuracy</a:t>
            </a:r>
          </a:p>
        </p:txBody>
      </p:sp>
      <p:sp>
        <p:nvSpPr>
          <p:cNvPr id="13" name="TextBox 13"/>
          <p:cNvSpPr txBox="1"/>
          <p:nvPr/>
        </p:nvSpPr>
        <p:spPr>
          <a:xfrm>
            <a:off x="1981200" y="3561078"/>
            <a:ext cx="5607917" cy="3736407"/>
          </a:xfrm>
          <a:prstGeom prst="rect">
            <a:avLst/>
          </a:prstGeom>
        </p:spPr>
        <p:txBody>
          <a:bodyPr lIns="0" tIns="0" rIns="0" bIns="0" rtlCol="0" anchor="t">
            <a:spAutoFit/>
          </a:bodyPr>
          <a:lstStyle/>
          <a:p>
            <a:pPr algn="l">
              <a:lnSpc>
                <a:spcPts val="4193"/>
              </a:lnSpc>
            </a:pPr>
            <a:r>
              <a:rPr lang="en-US" sz="2995" dirty="0">
                <a:solidFill>
                  <a:srgbClr val="000000"/>
                </a:solidFill>
                <a:latin typeface="Alatsi"/>
                <a:ea typeface="Alatsi"/>
                <a:cs typeface="Alatsi"/>
                <a:sym typeface="Alatsi"/>
              </a:rPr>
              <a:t>On simpler sentences, the word-by-word accuracy was higher 63.72 while complex sentences showed lower accuracy due to compounding and syntax variations.</a:t>
            </a:r>
          </a:p>
          <a:p>
            <a:pPr algn="l">
              <a:lnSpc>
                <a:spcPts val="4193"/>
              </a:lnSpc>
            </a:pPr>
            <a:endParaRPr lang="en-US" sz="2995" dirty="0">
              <a:solidFill>
                <a:srgbClr val="000000"/>
              </a:solidFill>
              <a:latin typeface="Alatsi"/>
              <a:ea typeface="Alatsi"/>
              <a:cs typeface="Alatsi"/>
              <a:sym typeface="Alatsi"/>
            </a:endParaRPr>
          </a:p>
        </p:txBody>
      </p:sp>
      <p:sp>
        <p:nvSpPr>
          <p:cNvPr id="14" name="AutoShape 14"/>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15" name="AutoShape 15"/>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16" name="Group 16"/>
          <p:cNvGrpSpPr/>
          <p:nvPr/>
        </p:nvGrpSpPr>
        <p:grpSpPr>
          <a:xfrm>
            <a:off x="15859155" y="0"/>
            <a:ext cx="1562612" cy="1673225"/>
            <a:chOff x="0" y="0"/>
            <a:chExt cx="2083482" cy="2230967"/>
          </a:xfrm>
        </p:grpSpPr>
        <p:grpSp>
          <p:nvGrpSpPr>
            <p:cNvPr id="17" name="Group 17"/>
            <p:cNvGrpSpPr/>
            <p:nvPr/>
          </p:nvGrpSpPr>
          <p:grpSpPr>
            <a:xfrm>
              <a:off x="75599" y="0"/>
              <a:ext cx="1932284" cy="2230967"/>
              <a:chOff x="0" y="0"/>
              <a:chExt cx="703982" cy="812800"/>
            </a:xfrm>
          </p:grpSpPr>
          <p:sp>
            <p:nvSpPr>
              <p:cNvPr id="18" name="Freeform 1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9" name="TextBox 1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10</a:t>
              </a:r>
            </a:p>
          </p:txBody>
        </p:sp>
      </p:grpSp>
      <p:sp>
        <p:nvSpPr>
          <p:cNvPr id="21" name="Freeform 21"/>
          <p:cNvSpPr/>
          <p:nvPr/>
        </p:nvSpPr>
        <p:spPr>
          <a:xfrm>
            <a:off x="1475832" y="-1449083"/>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1072122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28" name="Picture 27">
            <a:extLst>
              <a:ext uri="{FF2B5EF4-FFF2-40B4-BE49-F238E27FC236}">
                <a16:creationId xmlns:a16="http://schemas.microsoft.com/office/drawing/2014/main" id="{8491A09B-8A91-4C73-F9C3-857FA40B4A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67265" y="5295114"/>
            <a:ext cx="8625206" cy="4307970"/>
          </a:xfrm>
          <a:prstGeom prst="rect">
            <a:avLst/>
          </a:prstGeom>
        </p:spPr>
      </p:pic>
      <p:pic>
        <p:nvPicPr>
          <p:cNvPr id="30" name="Picture 29">
            <a:extLst>
              <a:ext uri="{FF2B5EF4-FFF2-40B4-BE49-F238E27FC236}">
                <a16:creationId xmlns:a16="http://schemas.microsoft.com/office/drawing/2014/main" id="{11896112-4AE2-40F0-D667-AD24779117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67265" y="2271089"/>
            <a:ext cx="7772400" cy="27547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12982861" y="5945563"/>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11</a:t>
              </a:r>
            </a:p>
          </p:txBody>
        </p:sp>
      </p:grpSp>
      <p:sp>
        <p:nvSpPr>
          <p:cNvPr id="11" name="TextBox 11"/>
          <p:cNvSpPr txBox="1"/>
          <p:nvPr/>
        </p:nvSpPr>
        <p:spPr>
          <a:xfrm>
            <a:off x="3679044" y="866775"/>
            <a:ext cx="10929913"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CONCLUSION</a:t>
            </a:r>
          </a:p>
        </p:txBody>
      </p:sp>
      <p:sp>
        <p:nvSpPr>
          <p:cNvPr id="12" name="TextBox 12"/>
          <p:cNvSpPr txBox="1"/>
          <p:nvPr/>
        </p:nvSpPr>
        <p:spPr>
          <a:xfrm>
            <a:off x="1209670" y="2251076"/>
            <a:ext cx="16212097" cy="5939155"/>
          </a:xfrm>
          <a:prstGeom prst="rect">
            <a:avLst/>
          </a:prstGeom>
        </p:spPr>
        <p:txBody>
          <a:bodyPr lIns="0" tIns="0" rIns="0" bIns="0" rtlCol="0" anchor="t">
            <a:spAutoFit/>
          </a:bodyPr>
          <a:lstStyle/>
          <a:p>
            <a:pPr marL="604516" lvl="1" indent="-302258" algn="l">
              <a:lnSpc>
                <a:spcPts val="3919"/>
              </a:lnSpc>
              <a:buFont typeface="Arial"/>
              <a:buChar char="•"/>
            </a:pPr>
            <a:r>
              <a:rPr lang="en-US" sz="2799" dirty="0">
                <a:solidFill>
                  <a:srgbClr val="000000"/>
                </a:solidFill>
                <a:latin typeface="Alatsi"/>
                <a:ea typeface="Alatsi"/>
                <a:cs typeface="Alatsi"/>
                <a:sym typeface="Alatsi"/>
              </a:rPr>
              <a:t>Summary: This project explored the challenges and approaches for Sanskrit-to-English translation using Encoder-Decoder LSTM models, highlighting the unique complexities of Sanskrit’s syntax, morphology, and context-dependent meanings.</a:t>
            </a:r>
          </a:p>
          <a:p>
            <a:pPr marL="604516" lvl="1" indent="-302258" algn="l">
              <a:lnSpc>
                <a:spcPts val="3919"/>
              </a:lnSpc>
              <a:buFont typeface="Arial"/>
              <a:buChar char="•"/>
            </a:pPr>
            <a:r>
              <a:rPr lang="en-US" sz="2799" dirty="0">
                <a:solidFill>
                  <a:srgbClr val="000000"/>
                </a:solidFill>
                <a:latin typeface="Alatsi"/>
                <a:ea typeface="Alatsi"/>
                <a:cs typeface="Alatsi"/>
                <a:sym typeface="Alatsi"/>
              </a:rPr>
              <a:t>Achievements: Successfully developed a model that translates basic Sanskrit sentences, paving the way for enhanced accessibility of Sanskrit texts in academia and beyond.</a:t>
            </a:r>
          </a:p>
          <a:p>
            <a:pPr marL="604516" lvl="1" indent="-302258" algn="l">
              <a:lnSpc>
                <a:spcPts val="3919"/>
              </a:lnSpc>
              <a:buFont typeface="Arial"/>
              <a:buChar char="•"/>
            </a:pPr>
            <a:r>
              <a:rPr lang="en-US" sz="2799" dirty="0">
                <a:solidFill>
                  <a:srgbClr val="000000"/>
                </a:solidFill>
                <a:latin typeface="Alatsi"/>
                <a:ea typeface="Alatsi"/>
                <a:cs typeface="Alatsi"/>
                <a:sym typeface="Alatsi"/>
              </a:rPr>
              <a:t>Challenges and Limitations: Handling complex sentence structures, compounded words, and data scarcity remains a challenge, impacting translation accuracy.</a:t>
            </a:r>
          </a:p>
          <a:p>
            <a:pPr marL="604516" lvl="1" indent="-302258" algn="l">
              <a:lnSpc>
                <a:spcPts val="3919"/>
              </a:lnSpc>
              <a:buFont typeface="Arial"/>
              <a:buChar char="•"/>
            </a:pPr>
            <a:r>
              <a:rPr lang="en-US" sz="2799" dirty="0">
                <a:solidFill>
                  <a:srgbClr val="000000"/>
                </a:solidFill>
                <a:latin typeface="Alatsi"/>
                <a:ea typeface="Alatsi"/>
                <a:cs typeface="Alatsi"/>
                <a:sym typeface="Alatsi"/>
              </a:rPr>
              <a:t>Future Potential: With advancements like Transformer models, attention mechanisms, and domain-specific fine-tuning, the model can be improved for better accuracy and wider application.</a:t>
            </a:r>
          </a:p>
          <a:p>
            <a:pPr marL="604516" lvl="1" indent="-302258" algn="l">
              <a:lnSpc>
                <a:spcPts val="3919"/>
              </a:lnSpc>
              <a:buFont typeface="Arial"/>
              <a:buChar char="•"/>
            </a:pPr>
            <a:r>
              <a:rPr lang="en-US" sz="2799" dirty="0">
                <a:solidFill>
                  <a:srgbClr val="000000"/>
                </a:solidFill>
                <a:latin typeface="Alatsi"/>
                <a:ea typeface="Alatsi"/>
                <a:cs typeface="Alatsi"/>
                <a:sym typeface="Alatsi"/>
              </a:rPr>
              <a:t>Final Thought: This work contributes to bridging the gap between ancient and modern languages, making Sanskrit's rich cultural and intellectual heritage more accessible in the digital age.</a:t>
            </a:r>
          </a:p>
          <a:p>
            <a:pPr algn="l">
              <a:lnSpc>
                <a:spcPts val="3919"/>
              </a:lnSpc>
            </a:pPr>
            <a:endParaRPr lang="en-US" sz="2799" dirty="0">
              <a:solidFill>
                <a:srgbClr val="000000"/>
              </a:solidFill>
              <a:latin typeface="Alatsi"/>
              <a:ea typeface="Alatsi"/>
              <a:cs typeface="Alatsi"/>
              <a:sym typeface="Alatsi"/>
            </a:endParaRPr>
          </a:p>
        </p:txBody>
      </p:sp>
      <p:sp>
        <p:nvSpPr>
          <p:cNvPr id="13" name="Freeform 13"/>
          <p:cNvSpPr/>
          <p:nvPr/>
        </p:nvSpPr>
        <p:spPr>
          <a:xfrm>
            <a:off x="-3009325" y="-40227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a:ea typeface="Alatsi"/>
                <a:cs typeface="Alatsi"/>
                <a:sym typeface="Alatsi"/>
              </a:rPr>
              <a:t>THANK YOU</a:t>
            </a:r>
          </a:p>
        </p:txBody>
      </p:sp>
      <p:sp>
        <p:nvSpPr>
          <p:cNvPr id="3" name="TextBox 3"/>
          <p:cNvSpPr txBox="1"/>
          <p:nvPr/>
        </p:nvSpPr>
        <p:spPr>
          <a:xfrm>
            <a:off x="6927671" y="1846941"/>
            <a:ext cx="6882108" cy="533299"/>
          </a:xfrm>
          <a:prstGeom prst="rect">
            <a:avLst/>
          </a:prstGeom>
        </p:spPr>
        <p:txBody>
          <a:bodyPr lIns="0" tIns="0" rIns="0" bIns="0" rtlCol="0" anchor="t">
            <a:spAutoFit/>
          </a:bodyPr>
          <a:lstStyle/>
          <a:p>
            <a:pPr algn="ctr">
              <a:lnSpc>
                <a:spcPts val="4376"/>
              </a:lnSpc>
            </a:pPr>
            <a:r>
              <a:rPr lang="en-US" sz="3126">
                <a:solidFill>
                  <a:srgbClr val="000000"/>
                </a:solidFill>
                <a:latin typeface="Alatsi"/>
                <a:ea typeface="Alatsi"/>
                <a:cs typeface="Alatsi"/>
                <a:sym typeface="Alatsi"/>
              </a:rPr>
              <a:t>UMBC | 2024</a:t>
            </a:r>
          </a:p>
        </p:txBody>
      </p:sp>
      <p:grpSp>
        <p:nvGrpSpPr>
          <p:cNvPr id="4" name="Group 4"/>
          <p:cNvGrpSpPr/>
          <p:nvPr/>
        </p:nvGrpSpPr>
        <p:grpSpPr>
          <a:xfrm>
            <a:off x="-31071" y="0"/>
            <a:ext cx="4239083" cy="10287000"/>
            <a:chOff x="0" y="0"/>
            <a:chExt cx="5652111" cy="13716000"/>
          </a:xfrm>
        </p:grpSpPr>
        <p:grpSp>
          <p:nvGrpSpPr>
            <p:cNvPr id="5" name="Group 5"/>
            <p:cNvGrpSpPr/>
            <p:nvPr/>
          </p:nvGrpSpPr>
          <p:grpSpPr>
            <a:xfrm>
              <a:off x="2826056" y="0"/>
              <a:ext cx="2826056" cy="13716000"/>
              <a:chOff x="0" y="0"/>
              <a:chExt cx="558233" cy="2709333"/>
            </a:xfrm>
          </p:grpSpPr>
          <p:sp>
            <p:nvSpPr>
              <p:cNvPr id="6" name="Freeform 6"/>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7" name="TextBox 7"/>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13028" y="0"/>
              <a:ext cx="2826056" cy="13716000"/>
              <a:chOff x="0" y="0"/>
              <a:chExt cx="558233" cy="2709333"/>
            </a:xfrm>
          </p:grpSpPr>
          <p:sp>
            <p:nvSpPr>
              <p:cNvPr id="9" name="Freeform 9"/>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10" name="TextBox 10"/>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2826056" cy="13716000"/>
              <a:chOff x="0" y="0"/>
              <a:chExt cx="558233" cy="2709333"/>
            </a:xfrm>
          </p:grpSpPr>
          <p:sp>
            <p:nvSpPr>
              <p:cNvPr id="12" name="Freeform 12"/>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3" name="TextBox 13"/>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4" name="Freeform 14"/>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TotalTime>
  <Words>1001</Words>
  <Application>Microsoft Macintosh PowerPoint</Application>
  <PresentationFormat>Custom</PresentationFormat>
  <Paragraphs>109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Open Sans Bold</vt:lpstr>
      <vt:lpstr>Alatsi</vt:lpstr>
      <vt:lpstr>Al Nile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Pastel Minimalist Thesis Defense Presentation</dc:title>
  <cp:lastModifiedBy>Sahasra Kamatam</cp:lastModifiedBy>
  <cp:revision>9</cp:revision>
  <dcterms:created xsi:type="dcterms:W3CDTF">2006-08-16T00:00:00Z</dcterms:created>
  <dcterms:modified xsi:type="dcterms:W3CDTF">2024-12-07T20:15:08Z</dcterms:modified>
  <dc:identifier>DAGVvn_t3eQ</dc:identifier>
</cp:coreProperties>
</file>